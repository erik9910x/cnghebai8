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Dẫn nhập: Từ động cơ phản lực, khung xe máy đến bu lông siêu nhỏ đều là sản phẩm của ngành cơ khí chế tạo. Hôm nay chúng ta bước vào Machining Lab để giải mã 5 phương pháp gia công cốt lõi trong chương trình Công nghệ 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Hỏi lớp: Nhìn 3 chi tiết trên, em sẽ chọn cách chế tạo nào? Bật mí: Trục bậc dùng Tiện, Thân máy rỗng dùng Đúc, Bàn máy có rãnh dùng Phay.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viên nhấn mạnh: Bài 8 bao gồm 5 phương pháp chính. Hãy nhớ nguyên tắc phân loại: Đúc và Hàn là tạo phôi/liên kết; Khoan, Tiện, Phay là cắt gọt bằng dao.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Lưu ý sư phạm: Nhấn mạnh 2 nhánh chuẩn bị khuôn và nấu chảy kim loại phải tiến hành song song trước khi rót vào khuôn.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biệt rõ: Hàn hồ quang dùng điện, hàn hơi dùng khí cháy Oxy-Axetylen. Cả hai đều đạt nhiệt độ trên 3000°C để nấu chảy kim loại.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Khắc sâu cho học sinh: 5 kiểu liên kết (Giáp mối, Chồng, Chữ T, Góc, Gấp mép). Chú ý nhược điểm nung nóng không đều gây cong vênh chi tiết.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mạnh mũi khoan thực hiện cả 2 chuyển động: quay tròn (Vc) và tịnh tiến (S). Phân biệt khoan (tạo lỗ), khoét (mở rộng), doa (gia công tinh), taro (tạo ren trong).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tắc nằm lòng: Ở máy tiện, PHÔI QUAY TRÒN, DAO TỊNH TIẾN. Dao chạy dọc tiện mặt trụ, dao chạy ngang tiện mặt đầu, dao chạy chéo tiện mặt côn.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cốt lõi: Phay ngược lại với Tiện: Dao phay quay tròn, phôi tịnh tiến theo các phương. Ứng dụng phay mặt phẳng và rãnh chữ 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tổng hợp này giúp học sinh ôn tập nhanh và phân biệt dứt khoát 5 phương pháp trước khi bước vào minigame kiểm tra.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Đấu trường gồm 25 câu hỏi, không đếm ngược thời gian, tích hợp Xúc Xắc 3D gọi học sinh tương tác game show.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công nghệ Hand AR. Nhấn mạnh nếu không có camera vẫn dùng chuột kéo thả bình thường.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quý Thầy Cô và các bạn học sinh đã chú ý lắng nghe bài thuyết trình!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6217920" cy="4114800"/>
          </a:xfrm>
          <a:prstGeom prst="rect">
            <a:avLst/>
          </a:prstGeom>
          <a:noFill/>
        </p:spPr>
        <p:txBody>
          <a:bodyPr wrap="square">
            <a:spAutoFit/>
          </a:bodyPr>
          <a:lstStyle/>
          <a:p>
            <a:pPr>
              <a:defRPr sz="1400" b="1">
                <a:solidFill>
                  <a:srgbClr val="F59E0B"/>
                </a:solidFill>
                <a:latin typeface="Be Vietnam Pro"/>
              </a:defRPr>
            </a:pPr>
            <a:r>
              <a:t>● BÀI 8 · CÔNG NGHỆ 11 (CƠ KHÍ CHẾ TẠO)</a:t>
            </a:r>
          </a:p>
          <a:p>
            <a:pPr>
              <a:spcBef>
                <a:spcPts val="1400"/>
              </a:spcBef>
              <a:spcAft>
                <a:spcPts val="1400"/>
              </a:spcAft>
              <a:defRPr sz="4000" b="1">
                <a:solidFill>
                  <a:srgbClr val="F0F4F8"/>
                </a:solidFill>
                <a:latin typeface="Be Vietnam Pro"/>
              </a:defRPr>
            </a:pPr>
            <a:r>
              <a:t>MỘT SỐ PHƯƠNG PHÁP</a:t>
            </a:r>
            <a:br/>
            <a:r>
              <a:t>GIA CÔNG CƠ KHÍ</a:t>
            </a:r>
          </a:p>
          <a:p>
            <a:pPr>
              <a:defRPr sz="1600">
                <a:solidFill>
                  <a:srgbClr val="94A3B8"/>
                </a:solidFill>
                <a:latin typeface="Be Vietnam Pro"/>
              </a:defRPr>
            </a:pPr>
            <a:r>
              <a:t>Nhìn nguyên lí · Điều khiển chuyển động · Chọn đúng phương pháp chế tạo chi tiết kim loại</a:t>
            </a:r>
          </a:p>
          <a:p>
            <a:pPr>
              <a:spcBef>
                <a:spcPts val="2400"/>
              </a:spcBef>
              <a:defRPr sz="1300" b="1">
                <a:solidFill>
                  <a:srgbClr val="00E5FF"/>
                </a:solidFill>
                <a:latin typeface="Be Vietnam Pro"/>
              </a:defRPr>
            </a:pPr>
            <a:r>
              <a:t>Trải nghiệm tương tác 3D Web &amp; Hand AR tại: Bai_8_Machining_Lab.html</a:t>
            </a:r>
          </a:p>
        </p:txBody>
      </p:sp>
      <p:pic>
        <p:nvPicPr>
          <p:cNvPr id="4" name="Picture 3" descr="cover.jpg"/>
          <p:cNvPicPr>
            <a:picLocks noChangeAspect="1"/>
          </p:cNvPicPr>
          <p:nvPr/>
        </p:nvPicPr>
        <p:blipFill>
          <a:blip r:embed="rId2"/>
          <a:stretch>
            <a:fillRect/>
          </a:stretch>
        </p:blipFill>
        <p:spPr>
          <a:xfrm>
            <a:off x="7132320" y="1463040"/>
            <a:ext cx="4297680" cy="4114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00E5FF"/>
                </a:solidFill>
                <a:latin typeface="Be Vietnam Pro"/>
              </a:defRPr>
            </a:pPr>
            <a:r>
              <a:t>● TÌNH HUỐNG THỰC TẾ</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Bạn sẽ chọn phương pháp gia công nào?</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Mỗi chi tiết kim loại có hình dạng hình học và cơ tính riêng biệt quyết định phương pháp chế tạo tối ưu.</a:t>
            </a:r>
          </a:p>
        </p:txBody>
      </p:sp>
      <p:sp>
        <p:nvSpPr>
          <p:cNvPr id="6" name="Rounded Rectangle 5"/>
          <p:cNvSpPr/>
          <p:nvPr/>
        </p:nvSpPr>
        <p:spPr>
          <a:xfrm>
            <a:off x="731520" y="2377440"/>
            <a:ext cx="3291840" cy="3840480"/>
          </a:xfrm>
          <a:prstGeom prst="roundRect">
            <a:avLst/>
          </a:prstGeom>
          <a:solidFill>
            <a:srgbClr val="12182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TÌNH HUỐNG 01: TRỤC XE MÁY</a:t>
            </a:r>
          </a:p>
          <a:p>
            <a:pPr>
              <a:spcAft>
                <a:spcPts val="800"/>
              </a:spcAft>
              <a:defRPr sz="1200">
                <a:solidFill>
                  <a:srgbClr val="F59E0B"/>
                </a:solidFill>
                <a:latin typeface="Be Vietnam Pro"/>
              </a:defRPr>
            </a:pPr>
            <a:r>
              <a:t>Đề xuất: GIA CÔNG TIỆN</a:t>
            </a:r>
          </a:p>
          <a:p>
            <a:pPr>
              <a:spcAft>
                <a:spcPts val="400"/>
              </a:spcAft>
              <a:defRPr sz="1300">
                <a:solidFill>
                  <a:srgbClr val="94A3B8"/>
                </a:solidFill>
                <a:latin typeface="Be Vietnam Pro"/>
              </a:defRPr>
            </a:pPr>
            <a:r>
              <a:t>• Đặc điểm: Chi tiết trục bậc tròn xoay, có đầu côn và ren vít.</a:t>
            </a:r>
          </a:p>
          <a:p>
            <a:pPr>
              <a:spcAft>
                <a:spcPts val="400"/>
              </a:spcAft>
              <a:defRPr sz="1300">
                <a:solidFill>
                  <a:srgbClr val="94A3B8"/>
                </a:solidFill>
                <a:latin typeface="Be Vietnam Pro"/>
              </a:defRPr>
            </a:pPr>
            <a:r>
              <a:t>• Nguyên lí: Phôi quay tròn (Vc), dao tịnh tiến (S) cắt gọt kim loại thừa.</a:t>
            </a:r>
          </a:p>
          <a:p>
            <a:pPr>
              <a:spcAft>
                <a:spcPts val="400"/>
              </a:spcAft>
              <a:defRPr sz="1300">
                <a:solidFill>
                  <a:srgbClr val="94A3B8"/>
                </a:solidFill>
                <a:latin typeface="Be Vietnam Pro"/>
              </a:defRPr>
            </a:pPr>
            <a:r>
              <a:t>• Đạt độ đồng tâm trục và độ nhẵn bề mặt rất cao.</a:t>
            </a:r>
          </a:p>
        </p:txBody>
      </p:sp>
      <p:sp>
        <p:nvSpPr>
          <p:cNvPr id="7" name="Rounded Rectangle 6"/>
          <p:cNvSpPr/>
          <p:nvPr/>
        </p:nvSpPr>
        <p:spPr>
          <a:xfrm>
            <a:off x="4389120" y="2377440"/>
            <a:ext cx="3291840" cy="3840480"/>
          </a:xfrm>
          <a:prstGeom prst="roundRect">
            <a:avLst/>
          </a:prstGeom>
          <a:solidFill>
            <a:srgbClr val="121820"/>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TÌNH HUỐNG 02: THÂN ĐỘNG CƠ</a:t>
            </a:r>
          </a:p>
          <a:p>
            <a:pPr>
              <a:spcAft>
                <a:spcPts val="800"/>
              </a:spcAft>
              <a:defRPr sz="1200">
                <a:solidFill>
                  <a:srgbClr val="F59E0B"/>
                </a:solidFill>
                <a:latin typeface="Be Vietnam Pro"/>
              </a:defRPr>
            </a:pPr>
            <a:r>
              <a:t>Đề xuất: GIA CÔNG ĐÚC</a:t>
            </a:r>
          </a:p>
          <a:p>
            <a:pPr>
              <a:spcAft>
                <a:spcPts val="400"/>
              </a:spcAft>
              <a:defRPr sz="1300">
                <a:solidFill>
                  <a:srgbClr val="94A3B8"/>
                </a:solidFill>
                <a:latin typeface="Be Vietnam Pro"/>
              </a:defRPr>
            </a:pPr>
            <a:r>
              <a:t>• Đặc điểm: Kết cấu phức tạp, có nhiều khoang rỗng và áo nước làm mát.</a:t>
            </a:r>
          </a:p>
          <a:p>
            <a:pPr>
              <a:spcAft>
                <a:spcPts val="400"/>
              </a:spcAft>
              <a:defRPr sz="1300">
                <a:solidFill>
                  <a:srgbClr val="94A3B8"/>
                </a:solidFill>
                <a:latin typeface="Be Vietnam Pro"/>
              </a:defRPr>
            </a:pPr>
            <a:r>
              <a:t>• Nguyên lí: Rót kim loại lỏng vào lòng khuôn có sẵn để đông đặc tạo hình.</a:t>
            </a:r>
          </a:p>
          <a:p>
            <a:pPr>
              <a:spcAft>
                <a:spcPts val="400"/>
              </a:spcAft>
              <a:defRPr sz="1300">
                <a:solidFill>
                  <a:srgbClr val="94A3B8"/>
                </a:solidFill>
                <a:latin typeface="Be Vietnam Pro"/>
              </a:defRPr>
            </a:pPr>
            <a:r>
              <a:t>• Không loại dao cắt gọt nào thò vào gia công khoang rỗng bên trong được.</a:t>
            </a:r>
          </a:p>
        </p:txBody>
      </p:sp>
      <p:sp>
        <p:nvSpPr>
          <p:cNvPr id="8" name="Rounded Rectangle 7"/>
          <p:cNvSpPr/>
          <p:nvPr/>
        </p:nvSpPr>
        <p:spPr>
          <a:xfrm>
            <a:off x="8046720" y="2377440"/>
            <a:ext cx="3383280" cy="3840480"/>
          </a:xfrm>
          <a:prstGeom prst="roundRect">
            <a:avLst/>
          </a:prstGeom>
          <a:solidFill>
            <a:srgbClr val="12182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TÌNH HUỐNG 03: BÀN MÁY CƠ KHÍ</a:t>
            </a:r>
          </a:p>
          <a:p>
            <a:pPr>
              <a:spcAft>
                <a:spcPts val="800"/>
              </a:spcAft>
              <a:defRPr sz="1200">
                <a:solidFill>
                  <a:srgbClr val="F59E0B"/>
                </a:solidFill>
                <a:latin typeface="Be Vietnam Pro"/>
              </a:defRPr>
            </a:pPr>
            <a:r>
              <a:t>Đề xuất: GIA CÔNG PHAY</a:t>
            </a:r>
          </a:p>
          <a:p>
            <a:pPr>
              <a:spcAft>
                <a:spcPts val="400"/>
              </a:spcAft>
              <a:defRPr sz="1300">
                <a:solidFill>
                  <a:srgbClr val="94A3B8"/>
                </a:solidFill>
                <a:latin typeface="Be Vietnam Pro"/>
              </a:defRPr>
            </a:pPr>
            <a:r>
              <a:t>• Đặc điểm: Bề mặt phẳng lớn và các rãnh chữ T song song để gá kẹp êtô.</a:t>
            </a:r>
          </a:p>
          <a:p>
            <a:pPr>
              <a:spcAft>
                <a:spcPts val="400"/>
              </a:spcAft>
              <a:defRPr sz="1300">
                <a:solidFill>
                  <a:srgbClr val="94A3B8"/>
                </a:solidFill>
                <a:latin typeface="Be Vietnam Pro"/>
              </a:defRPr>
            </a:pPr>
            <a:r>
              <a:t>• Nguyên lí: Dao phay quay tròn (V), bàn máy mang phôi tịnh tiến.</a:t>
            </a:r>
          </a:p>
          <a:p>
            <a:pPr>
              <a:spcAft>
                <a:spcPts val="400"/>
              </a:spcAft>
              <a:defRPr sz="1300">
                <a:solidFill>
                  <a:srgbClr val="94A3B8"/>
                </a:solidFill>
                <a:latin typeface="Be Vietnam Pro"/>
              </a:defRPr>
            </a:pPr>
            <a:r>
              <a:t>• Phương pháp tối ưu để tạo mặt phẳng, rãnh then và rãnh chữ 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8B5CF6"/>
                </a:solidFill>
                <a:latin typeface="Be Vietnam Pro"/>
              </a:defRPr>
            </a:pPr>
            <a:r>
              <a:t>● BẢN ĐỒ KIẾN THỨC SGK</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Năm phương pháp gia công cơ khí trọng tâm</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Phân chia thành nhóm gia công không phoi (Đúc, Hàn) và gia công cắt gọt có phoi (Khoan, Tiện, Phay).</a:t>
            </a:r>
          </a:p>
        </p:txBody>
      </p:sp>
      <p:sp>
        <p:nvSpPr>
          <p:cNvPr id="6" name="Rounded Rectangle 5"/>
          <p:cNvSpPr/>
          <p:nvPr/>
        </p:nvSpPr>
        <p:spPr>
          <a:xfrm>
            <a:off x="731520" y="2377440"/>
            <a:ext cx="1920240" cy="3840480"/>
          </a:xfrm>
          <a:prstGeom prst="roundRect">
            <a:avLst/>
          </a:prstGeom>
          <a:solidFill>
            <a:srgbClr val="121820"/>
          </a:solidFill>
          <a:ln w="15240">
            <a:solidFill>
              <a:srgbClr val="2633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1. ĐÚC</a:t>
            </a:r>
          </a:p>
          <a:p>
            <a:pPr>
              <a:spcAft>
                <a:spcPts val="800"/>
              </a:spcAft>
              <a:defRPr sz="1200">
                <a:solidFill>
                  <a:srgbClr val="F59E0B"/>
                </a:solidFill>
                <a:latin typeface="Be Vietnam Pro"/>
              </a:defRPr>
            </a:pPr>
            <a:r>
              <a:t>Gia công không phoi</a:t>
            </a:r>
          </a:p>
          <a:p>
            <a:pPr>
              <a:spcAft>
                <a:spcPts val="400"/>
              </a:spcAft>
              <a:defRPr sz="1300">
                <a:solidFill>
                  <a:srgbClr val="94A3B8"/>
                </a:solidFill>
                <a:latin typeface="Be Vietnam Pro"/>
              </a:defRPr>
            </a:pPr>
            <a:r>
              <a:t>• Rót kim loại lỏng vào khuôn.</a:t>
            </a:r>
          </a:p>
          <a:p>
            <a:pPr>
              <a:spcAft>
                <a:spcPts val="400"/>
              </a:spcAft>
              <a:defRPr sz="1300">
                <a:solidFill>
                  <a:srgbClr val="94A3B8"/>
                </a:solidFill>
                <a:latin typeface="Be Vietnam Pro"/>
              </a:defRPr>
            </a:pPr>
            <a:r>
              <a:t>• Nhận hình dạng lòng khuôn sau đông đặc.</a:t>
            </a:r>
          </a:p>
          <a:p>
            <a:pPr>
              <a:spcAft>
                <a:spcPts val="400"/>
              </a:spcAft>
              <a:defRPr sz="1300">
                <a:solidFill>
                  <a:srgbClr val="94A3B8"/>
                </a:solidFill>
                <a:latin typeface="Be Vietnam Pro"/>
              </a:defRPr>
            </a:pPr>
            <a:r>
              <a:t>• Tạo phôi kết cấu phức tạp.</a:t>
            </a:r>
          </a:p>
        </p:txBody>
      </p:sp>
      <p:sp>
        <p:nvSpPr>
          <p:cNvPr id="7" name="Rounded Rectangle 6"/>
          <p:cNvSpPr/>
          <p:nvPr/>
        </p:nvSpPr>
        <p:spPr>
          <a:xfrm>
            <a:off x="2926080" y="2377440"/>
            <a:ext cx="1920240" cy="3840480"/>
          </a:xfrm>
          <a:prstGeom prst="roundRect">
            <a:avLst/>
          </a:prstGeom>
          <a:solidFill>
            <a:srgbClr val="121820"/>
          </a:solidFill>
          <a:ln w="15240">
            <a:solidFill>
              <a:srgbClr val="2633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2. HÀN</a:t>
            </a:r>
          </a:p>
          <a:p>
            <a:pPr>
              <a:spcAft>
                <a:spcPts val="800"/>
              </a:spcAft>
              <a:defRPr sz="1200">
                <a:solidFill>
                  <a:srgbClr val="F59E0B"/>
                </a:solidFill>
                <a:latin typeface="Be Vietnam Pro"/>
              </a:defRPr>
            </a:pPr>
            <a:r>
              <a:t>Tạo mối liên kết</a:t>
            </a:r>
          </a:p>
          <a:p>
            <a:pPr>
              <a:spcAft>
                <a:spcPts val="400"/>
              </a:spcAft>
              <a:defRPr sz="1300">
                <a:solidFill>
                  <a:srgbClr val="94A3B8"/>
                </a:solidFill>
                <a:latin typeface="Be Vietnam Pro"/>
              </a:defRPr>
            </a:pPr>
            <a:r>
              <a:t>• Nung chảy mép tiếp xúc.</a:t>
            </a:r>
          </a:p>
          <a:p>
            <a:pPr>
              <a:spcAft>
                <a:spcPts val="400"/>
              </a:spcAft>
              <a:defRPr sz="1300">
                <a:solidFill>
                  <a:srgbClr val="94A3B8"/>
                </a:solidFill>
                <a:latin typeface="Be Vietnam Pro"/>
              </a:defRPr>
            </a:pPr>
            <a:r>
              <a:t>• Tạo mối liên kết không thể tháo rời.</a:t>
            </a:r>
          </a:p>
          <a:p>
            <a:pPr>
              <a:spcAft>
                <a:spcPts val="400"/>
              </a:spcAft>
              <a:defRPr sz="1300">
                <a:solidFill>
                  <a:srgbClr val="94A3B8"/>
                </a:solidFill>
                <a:latin typeface="Be Vietnam Pro"/>
              </a:defRPr>
            </a:pPr>
            <a:r>
              <a:t>• Hàn hồ quang &amp; hàn khí.</a:t>
            </a:r>
          </a:p>
        </p:txBody>
      </p:sp>
      <p:sp>
        <p:nvSpPr>
          <p:cNvPr id="8" name="Rounded Rectangle 7"/>
          <p:cNvSpPr/>
          <p:nvPr/>
        </p:nvSpPr>
        <p:spPr>
          <a:xfrm>
            <a:off x="5120640" y="2377440"/>
            <a:ext cx="1920240" cy="3840480"/>
          </a:xfrm>
          <a:prstGeom prst="roundRect">
            <a:avLst/>
          </a:prstGeom>
          <a:solidFill>
            <a:srgbClr val="121820"/>
          </a:solidFill>
          <a:ln w="15240">
            <a:solidFill>
              <a:srgbClr val="2633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3. KHOAN</a:t>
            </a:r>
          </a:p>
          <a:p>
            <a:pPr>
              <a:spcAft>
                <a:spcPts val="800"/>
              </a:spcAft>
              <a:defRPr sz="1200">
                <a:solidFill>
                  <a:srgbClr val="F59E0B"/>
                </a:solidFill>
                <a:latin typeface="Be Vietnam Pro"/>
              </a:defRPr>
            </a:pPr>
            <a:r>
              <a:t>Tạo lỗ tròn</a:t>
            </a:r>
          </a:p>
          <a:p>
            <a:pPr>
              <a:spcAft>
                <a:spcPts val="400"/>
              </a:spcAft>
              <a:defRPr sz="1300">
                <a:solidFill>
                  <a:srgbClr val="94A3B8"/>
                </a:solidFill>
                <a:latin typeface="Be Vietnam Pro"/>
              </a:defRPr>
            </a:pPr>
            <a:r>
              <a:t>• Mũi khoan ruột gà.</a:t>
            </a:r>
          </a:p>
          <a:p>
            <a:pPr>
              <a:spcAft>
                <a:spcPts val="400"/>
              </a:spcAft>
              <a:defRPr sz="1300">
                <a:solidFill>
                  <a:srgbClr val="94A3B8"/>
                </a:solidFill>
                <a:latin typeface="Be Vietnam Pro"/>
              </a:defRPr>
            </a:pPr>
            <a:r>
              <a:t>• Mũi khoan vừa quay vừa tiến.</a:t>
            </a:r>
          </a:p>
          <a:p>
            <a:pPr>
              <a:spcAft>
                <a:spcPts val="400"/>
              </a:spcAft>
              <a:defRPr sz="1300">
                <a:solidFill>
                  <a:srgbClr val="94A3B8"/>
                </a:solidFill>
                <a:latin typeface="Be Vietnam Pro"/>
              </a:defRPr>
            </a:pPr>
            <a:r>
              <a:t>• Tạo lỗ từ phôi đặc.</a:t>
            </a:r>
          </a:p>
        </p:txBody>
      </p:sp>
      <p:sp>
        <p:nvSpPr>
          <p:cNvPr id="9" name="Rounded Rectangle 8"/>
          <p:cNvSpPr/>
          <p:nvPr/>
        </p:nvSpPr>
        <p:spPr>
          <a:xfrm>
            <a:off x="7315200" y="2377440"/>
            <a:ext cx="1920240" cy="3840480"/>
          </a:xfrm>
          <a:prstGeom prst="roundRect">
            <a:avLst/>
          </a:prstGeom>
          <a:solidFill>
            <a:srgbClr val="12182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4. TIỆN</a:t>
            </a:r>
          </a:p>
          <a:p>
            <a:pPr>
              <a:spcAft>
                <a:spcPts val="800"/>
              </a:spcAft>
              <a:defRPr sz="1200">
                <a:solidFill>
                  <a:srgbClr val="F59E0B"/>
                </a:solidFill>
                <a:latin typeface="Be Vietnam Pro"/>
              </a:defRPr>
            </a:pPr>
            <a:r>
              <a:t>Mặt tròn xoay</a:t>
            </a:r>
          </a:p>
          <a:p>
            <a:pPr>
              <a:spcAft>
                <a:spcPts val="400"/>
              </a:spcAft>
              <a:defRPr sz="1300">
                <a:solidFill>
                  <a:srgbClr val="94A3B8"/>
                </a:solidFill>
                <a:latin typeface="Be Vietnam Pro"/>
              </a:defRPr>
            </a:pPr>
            <a:r>
              <a:t>• Phôi quay tròn quanh trục.</a:t>
            </a:r>
          </a:p>
          <a:p>
            <a:pPr>
              <a:spcAft>
                <a:spcPts val="400"/>
              </a:spcAft>
              <a:defRPr sz="1300">
                <a:solidFill>
                  <a:srgbClr val="94A3B8"/>
                </a:solidFill>
                <a:latin typeface="Be Vietnam Pro"/>
              </a:defRPr>
            </a:pPr>
            <a:r>
              <a:t>• Dao tiện tịnh tiến.</a:t>
            </a:r>
          </a:p>
          <a:p>
            <a:pPr>
              <a:spcAft>
                <a:spcPts val="400"/>
              </a:spcAft>
              <a:defRPr sz="1300">
                <a:solidFill>
                  <a:srgbClr val="94A3B8"/>
                </a:solidFill>
                <a:latin typeface="Be Vietnam Pro"/>
              </a:defRPr>
            </a:pPr>
            <a:r>
              <a:t>• Gia công mặt trụ, côn, ren.</a:t>
            </a:r>
          </a:p>
        </p:txBody>
      </p:sp>
      <p:sp>
        <p:nvSpPr>
          <p:cNvPr id="10" name="Rounded Rectangle 9"/>
          <p:cNvSpPr/>
          <p:nvPr/>
        </p:nvSpPr>
        <p:spPr>
          <a:xfrm>
            <a:off x="9509760" y="2377440"/>
            <a:ext cx="1920240" cy="3840480"/>
          </a:xfrm>
          <a:prstGeom prst="roundRect">
            <a:avLst/>
          </a:prstGeom>
          <a:solidFill>
            <a:srgbClr val="12182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5. PHAY</a:t>
            </a:r>
          </a:p>
          <a:p>
            <a:pPr>
              <a:spcAft>
                <a:spcPts val="800"/>
              </a:spcAft>
              <a:defRPr sz="1200">
                <a:solidFill>
                  <a:srgbClr val="F59E0B"/>
                </a:solidFill>
                <a:latin typeface="Be Vietnam Pro"/>
              </a:defRPr>
            </a:pPr>
            <a:r>
              <a:t>Mặt phẳng &amp; rãnh</a:t>
            </a:r>
          </a:p>
          <a:p>
            <a:pPr>
              <a:spcAft>
                <a:spcPts val="400"/>
              </a:spcAft>
              <a:defRPr sz="1300">
                <a:solidFill>
                  <a:srgbClr val="94A3B8"/>
                </a:solidFill>
                <a:latin typeface="Be Vietnam Pro"/>
              </a:defRPr>
            </a:pPr>
            <a:r>
              <a:t>• Dao phay quay tròn.</a:t>
            </a:r>
          </a:p>
          <a:p>
            <a:pPr>
              <a:spcAft>
                <a:spcPts val="400"/>
              </a:spcAft>
              <a:defRPr sz="1300">
                <a:solidFill>
                  <a:srgbClr val="94A3B8"/>
                </a:solidFill>
                <a:latin typeface="Be Vietnam Pro"/>
              </a:defRPr>
            </a:pPr>
            <a:r>
              <a:t>• Phôi tịnh tiến theo 3 phương.</a:t>
            </a:r>
          </a:p>
          <a:p>
            <a:pPr>
              <a:spcAft>
                <a:spcPts val="400"/>
              </a:spcAft>
              <a:defRPr sz="1300">
                <a:solidFill>
                  <a:srgbClr val="94A3B8"/>
                </a:solidFill>
                <a:latin typeface="Be Vietnam Pro"/>
              </a:defRPr>
            </a:pPr>
            <a:r>
              <a:t>• Mặt phẳng, rãnh chữ 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F59E0B"/>
                </a:solidFill>
                <a:latin typeface="Be Vietnam Pro"/>
              </a:defRPr>
            </a:pPr>
            <a:r>
              <a:t>● PHƯƠNG PHÁP I · GIA CÔNG KHÔNG PHOI</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Gia công đúc — Nguyên lí &amp; Quy trình 2 nhánh</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SGK Công nghệ 11 trang 40 — Chế tạo phôi bằng cách điền đầy kim loại lỏng vào lòng khuôn.</a:t>
            </a:r>
          </a:p>
        </p:txBody>
      </p:sp>
      <p:sp>
        <p:nvSpPr>
          <p:cNvPr id="6" name="Rounded Rectangle 5"/>
          <p:cNvSpPr/>
          <p:nvPr/>
        </p:nvSpPr>
        <p:spPr>
          <a:xfrm>
            <a:off x="731520" y="2377440"/>
            <a:ext cx="5120640" cy="3840480"/>
          </a:xfrm>
          <a:prstGeom prst="roundRect">
            <a:avLst/>
          </a:prstGeom>
          <a:solidFill>
            <a:srgbClr val="121820"/>
          </a:solidFill>
          <a:ln w="15240">
            <a:solidFill>
              <a:srgbClr val="2633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ĐẶC ĐIỂM CÔNG NGHỆ ĐÚC</a:t>
            </a:r>
          </a:p>
          <a:p>
            <a:pPr>
              <a:spcAft>
                <a:spcPts val="800"/>
              </a:spcAft>
              <a:defRPr sz="1200">
                <a:solidFill>
                  <a:srgbClr val="F59E0B"/>
                </a:solidFill>
                <a:latin typeface="Be Vietnam Pro"/>
              </a:defRPr>
            </a:pPr>
            <a:r>
              <a:t>Ưu điểm &amp; Hạn chế</a:t>
            </a:r>
          </a:p>
          <a:p>
            <a:pPr>
              <a:spcAft>
                <a:spcPts val="400"/>
              </a:spcAft>
              <a:defRPr sz="1300">
                <a:solidFill>
                  <a:srgbClr val="94A3B8"/>
                </a:solidFill>
                <a:latin typeface="Be Vietnam Pro"/>
              </a:defRPr>
            </a:pPr>
            <a:r>
              <a:t>• Đúc được hầu hết mọi kim loại và hợp kim khác nhau.</a:t>
            </a:r>
          </a:p>
          <a:p>
            <a:pPr>
              <a:spcAft>
                <a:spcPts val="400"/>
              </a:spcAft>
              <a:defRPr sz="1300">
                <a:solidFill>
                  <a:srgbClr val="94A3B8"/>
                </a:solidFill>
                <a:latin typeface="Be Vietnam Pro"/>
              </a:defRPr>
            </a:pPr>
            <a:r>
              <a:t>• Tạo được vật đúc có kết cấu bên trong rất phức tạp hoặc rỗng ruột.</a:t>
            </a:r>
          </a:p>
          <a:p>
            <a:pPr>
              <a:spcAft>
                <a:spcPts val="400"/>
              </a:spcAft>
              <a:defRPr sz="1300">
                <a:solidFill>
                  <a:srgbClr val="94A3B8"/>
                </a:solidFill>
                <a:latin typeface="Be Vietnam Pro"/>
              </a:defRPr>
            </a:pPr>
            <a:r>
              <a:t>• Khối lượng vật đúc từ vài gam đến hàng trăm tấn.</a:t>
            </a:r>
          </a:p>
          <a:p>
            <a:pPr>
              <a:spcAft>
                <a:spcPts val="400"/>
              </a:spcAft>
              <a:defRPr sz="1300">
                <a:solidFill>
                  <a:srgbClr val="94A3B8"/>
                </a:solidFill>
                <a:latin typeface="Be Vietnam Pro"/>
              </a:defRPr>
            </a:pPr>
            <a:r>
              <a:t>• Các phương pháp: Đúc khuôn cát, đúc mẫu chảy, đúc áp lực, đúc li tâm, đúc liên tục.</a:t>
            </a:r>
          </a:p>
          <a:p>
            <a:pPr>
              <a:spcAft>
                <a:spcPts val="400"/>
              </a:spcAft>
              <a:defRPr sz="1300">
                <a:solidFill>
                  <a:srgbClr val="94A3B8"/>
                </a:solidFill>
                <a:latin typeface="Be Vietnam Pro"/>
              </a:defRPr>
            </a:pPr>
            <a:r>
              <a:t>• HẠN CHẾ: Độ chính xác và độ nhẵn bề mặt nhìn chung không cao; thường dùng làm phôi cho gia công cắt gọt tinh tiếp theo.</a:t>
            </a:r>
          </a:p>
        </p:txBody>
      </p:sp>
      <p:sp>
        <p:nvSpPr>
          <p:cNvPr id="7" name="Rounded Rectangle 6"/>
          <p:cNvSpPr/>
          <p:nvPr/>
        </p:nvSpPr>
        <p:spPr>
          <a:xfrm>
            <a:off x="6217920" y="2377440"/>
            <a:ext cx="5212080" cy="3840480"/>
          </a:xfrm>
          <a:prstGeom prst="roundRect">
            <a:avLst/>
          </a:prstGeom>
          <a:solidFill>
            <a:srgbClr val="12182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SƠ ĐỒ QUY TRÌNH 2 NHÁNH (SGK HÌNH 8.2)</a:t>
            </a:r>
          </a:p>
          <a:p>
            <a:pPr>
              <a:spcAft>
                <a:spcPts val="800"/>
              </a:spcAft>
              <a:defRPr sz="1200">
                <a:solidFill>
                  <a:srgbClr val="F59E0B"/>
                </a:solidFill>
                <a:latin typeface="Be Vietnam Pro"/>
              </a:defRPr>
            </a:pPr>
            <a:r>
              <a:t>Trình tự chuẩn bị song song</a:t>
            </a:r>
          </a:p>
          <a:p>
            <a:pPr>
              <a:spcAft>
                <a:spcPts val="400"/>
              </a:spcAft>
              <a:defRPr sz="1300">
                <a:solidFill>
                  <a:srgbClr val="94A3B8"/>
                </a:solidFill>
                <a:latin typeface="Be Vietnam Pro"/>
              </a:defRPr>
            </a:pPr>
            <a:r>
              <a:t>• Nhánh 1: Chuẩn bị / Làm khuôn đúc (khuôn cát, lõi cát)</a:t>
            </a:r>
          </a:p>
          <a:p>
            <a:pPr>
              <a:spcAft>
                <a:spcPts val="400"/>
              </a:spcAft>
              <a:defRPr sz="1300">
                <a:solidFill>
                  <a:srgbClr val="94A3B8"/>
                </a:solidFill>
                <a:latin typeface="Be Vietnam Pro"/>
              </a:defRPr>
            </a:pPr>
            <a:r>
              <a:t>• Nhánh 2: Chuẩn bị / Nấu chảy kim loại</a:t>
            </a:r>
          </a:p>
          <a:p>
            <a:pPr>
              <a:spcAft>
                <a:spcPts val="400"/>
              </a:spcAft>
              <a:defRPr sz="1300">
                <a:solidFill>
                  <a:srgbClr val="94A3B8"/>
                </a:solidFill>
                <a:latin typeface="Be Vietnam Pro"/>
              </a:defRPr>
            </a:pPr>
            <a:r>
              <a:t>• --&gt; NHẬP 2 NHÁNH: Rót kim loại lỏng vào lòng khuôn</a:t>
            </a:r>
          </a:p>
          <a:p>
            <a:pPr>
              <a:spcAft>
                <a:spcPts val="400"/>
              </a:spcAft>
              <a:defRPr sz="1300">
                <a:solidFill>
                  <a:srgbClr val="94A3B8"/>
                </a:solidFill>
                <a:latin typeface="Be Vietnam Pro"/>
              </a:defRPr>
            </a:pPr>
            <a:r>
              <a:t>• --&gt; Làm nguội và kết tinh đông đặc</a:t>
            </a:r>
          </a:p>
          <a:p>
            <a:pPr>
              <a:spcAft>
                <a:spcPts val="400"/>
              </a:spcAft>
              <a:defRPr sz="1300">
                <a:solidFill>
                  <a:srgbClr val="94A3B8"/>
                </a:solidFill>
                <a:latin typeface="Be Vietnam Pro"/>
              </a:defRPr>
            </a:pPr>
            <a:r>
              <a:t>• --&gt; Dỡ khuôn, phá lõi, lấy vật đúc ra</a:t>
            </a:r>
          </a:p>
          <a:p>
            <a:pPr>
              <a:spcAft>
                <a:spcPts val="400"/>
              </a:spcAft>
              <a:defRPr sz="1300">
                <a:solidFill>
                  <a:srgbClr val="94A3B8"/>
                </a:solidFill>
                <a:latin typeface="Be Vietnam Pro"/>
              </a:defRPr>
            </a:pPr>
            <a:r>
              <a:t>• --&gt; Cắt bỏ đậu ngót, làm sạch bavia và kiểm tra kích thước</a:t>
            </a:r>
          </a:p>
          <a:p>
            <a:pPr>
              <a:spcAft>
                <a:spcPts val="400"/>
              </a:spcAft>
              <a:defRPr sz="1300">
                <a:solidFill>
                  <a:srgbClr val="94A3B8"/>
                </a:solidFill>
                <a:latin typeface="Be Vietnam Pro"/>
              </a:defRPr>
            </a:pPr>
            <a:r>
              <a:t>• Thực hành game Module 3: Xếp quy trình đúc trên website.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EF4444"/>
                </a:solidFill>
                <a:latin typeface="Be Vietnam Pro"/>
              </a:defRPr>
            </a:pPr>
            <a:r>
              <a:t>● PHƯƠNG PHÁP II · TẠO LIÊN KẾT KIM LOẠI</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Gia công hàn — Nguyên lí &amp; Hai phương pháp trọng tâm</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SGK Công nghệ 11 trang 41 — Nối các chi tiết kim loại bằng cách nung nóng chảy cục bộ mép nối.</a:t>
            </a:r>
          </a:p>
        </p:txBody>
      </p:sp>
      <p:sp>
        <p:nvSpPr>
          <p:cNvPr id="6" name="Rounded Rectangle 5"/>
          <p:cNvSpPr/>
          <p:nvPr/>
        </p:nvSpPr>
        <p:spPr>
          <a:xfrm>
            <a:off x="731520" y="2377440"/>
            <a:ext cx="5120640" cy="3840480"/>
          </a:xfrm>
          <a:prstGeom prst="roundRect">
            <a:avLst/>
          </a:prstGeom>
          <a:solidFill>
            <a:srgbClr val="121820"/>
          </a:solidFill>
          <a:ln w="15240">
            <a:solidFill>
              <a:srgbClr val="2633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HÀN HỒ QUANG (ARC WELDING)</a:t>
            </a:r>
          </a:p>
          <a:p>
            <a:pPr>
              <a:spcAft>
                <a:spcPts val="800"/>
              </a:spcAft>
              <a:defRPr sz="1200">
                <a:solidFill>
                  <a:srgbClr val="F59E0B"/>
                </a:solidFill>
                <a:latin typeface="Be Vietnam Pro"/>
              </a:defRPr>
            </a:pPr>
            <a:r>
              <a:t>Nguồn nhiệt điện cực</a:t>
            </a:r>
          </a:p>
          <a:p>
            <a:pPr>
              <a:spcAft>
                <a:spcPts val="400"/>
              </a:spcAft>
              <a:defRPr sz="1300">
                <a:solidFill>
                  <a:srgbClr val="94A3B8"/>
                </a:solidFill>
                <a:latin typeface="Be Vietnam Pro"/>
              </a:defRPr>
            </a:pPr>
            <a:r>
              <a:t>• Nguồn nhiệt: Hồ quang điện giữa que hàn và vật hàn.</a:t>
            </a:r>
          </a:p>
          <a:p>
            <a:pPr>
              <a:spcAft>
                <a:spcPts val="400"/>
              </a:spcAft>
              <a:defRPr sz="1300">
                <a:solidFill>
                  <a:srgbClr val="94A3B8"/>
                </a:solidFill>
                <a:latin typeface="Be Vietnam Pro"/>
              </a:defRPr>
            </a:pPr>
            <a:r>
              <a:t>• Nhiệt độ hồ quang lên đến 3000°C - 6000°C làm chảy kim loại mép nối và lõi que hàn.</a:t>
            </a:r>
          </a:p>
          <a:p>
            <a:pPr>
              <a:spcAft>
                <a:spcPts val="400"/>
              </a:spcAft>
              <a:defRPr sz="1300">
                <a:solidFill>
                  <a:srgbClr val="94A3B8"/>
                </a:solidFill>
                <a:latin typeface="Be Vietnam Pro"/>
              </a:defRPr>
            </a:pPr>
            <a:r>
              <a:t>• Que hàn bọc thuốc: Thuốc hàn cháy sinh khí bảo vệ và tạo xỉ phủ che chắn mối hàn khỏi oxy hóa.</a:t>
            </a:r>
          </a:p>
          <a:p>
            <a:pPr>
              <a:spcAft>
                <a:spcPts val="400"/>
              </a:spcAft>
              <a:defRPr sz="1300">
                <a:solidFill>
                  <a:srgbClr val="94A3B8"/>
                </a:solidFill>
                <a:latin typeface="Be Vietnam Pro"/>
              </a:defRPr>
            </a:pPr>
            <a:r>
              <a:t>• Rất phổ biến trong xây dựng kết cấu thép và cơ khí chế tạo.</a:t>
            </a:r>
          </a:p>
        </p:txBody>
      </p:sp>
      <p:sp>
        <p:nvSpPr>
          <p:cNvPr id="7" name="Rounded Rectangle 6"/>
          <p:cNvSpPr/>
          <p:nvPr/>
        </p:nvSpPr>
        <p:spPr>
          <a:xfrm>
            <a:off x="6217920" y="2377440"/>
            <a:ext cx="5212080" cy="3840480"/>
          </a:xfrm>
          <a:prstGeom prst="roundRect">
            <a:avLst/>
          </a:prstGeom>
          <a:solidFill>
            <a:srgbClr val="121820"/>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HÀN HƠI / HÀN KHÍ (GAS WELDING)</a:t>
            </a:r>
          </a:p>
          <a:p>
            <a:pPr>
              <a:spcAft>
                <a:spcPts val="800"/>
              </a:spcAft>
              <a:defRPr sz="1200">
                <a:solidFill>
                  <a:srgbClr val="F59E0B"/>
                </a:solidFill>
                <a:latin typeface="Be Vietnam Pro"/>
              </a:defRPr>
            </a:pPr>
            <a:r>
              <a:t>Nguồn nhiệt ngọn lửa khí</a:t>
            </a:r>
          </a:p>
          <a:p>
            <a:pPr>
              <a:spcAft>
                <a:spcPts val="400"/>
              </a:spcAft>
              <a:defRPr sz="1300">
                <a:solidFill>
                  <a:srgbClr val="94A3B8"/>
                </a:solidFill>
                <a:latin typeface="Be Vietnam Pro"/>
              </a:defRPr>
            </a:pPr>
            <a:r>
              <a:t>• Nguồn nhiệt: Đốt cháy hỗn hợp khí Oxy và Axetylen (O2 + C2H2).</a:t>
            </a:r>
          </a:p>
          <a:p>
            <a:pPr>
              <a:spcAft>
                <a:spcPts val="400"/>
              </a:spcAft>
              <a:defRPr sz="1300">
                <a:solidFill>
                  <a:srgbClr val="94A3B8"/>
                </a:solidFill>
                <a:latin typeface="Be Vietnam Pro"/>
              </a:defRPr>
            </a:pPr>
            <a:r>
              <a:t>• Ngọn lửa hàn đạt nhiệt độ khoảng 3150°C làm nóng chảy que hàn phụ và mép chi tiết hàn.</a:t>
            </a:r>
          </a:p>
          <a:p>
            <a:pPr>
              <a:spcAft>
                <a:spcPts val="400"/>
              </a:spcAft>
              <a:defRPr sz="1300">
                <a:solidFill>
                  <a:srgbClr val="94A3B8"/>
                </a:solidFill>
                <a:latin typeface="Be Vietnam Pro"/>
              </a:defRPr>
            </a:pPr>
            <a:r>
              <a:t>• Thích hợp hàn các chi tiết mỏng, ống kim loại mỏng hoặc kim loại màu.</a:t>
            </a:r>
          </a:p>
          <a:p>
            <a:pPr>
              <a:spcAft>
                <a:spcPts val="400"/>
              </a:spcAft>
              <a:defRPr sz="1300">
                <a:solidFill>
                  <a:srgbClr val="94A3B8"/>
                </a:solidFill>
                <a:latin typeface="Be Vietnam Pro"/>
              </a:defRPr>
            </a:pPr>
            <a:r>
              <a:t>• Mở rộng công nghệ cao: Hàn MAG/MIG (khí bảo vệ CO2/Argon) và hàn TIG (điện cực Vonfram không chảy).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EF4444"/>
                </a:solidFill>
                <a:latin typeface="Be Vietnam Pro"/>
              </a:defRPr>
            </a:pPr>
            <a:r>
              <a:t>● BỐ CỤC KẾT CẤU MỐI HÀN</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Năm kiểu liên kết hàn tiêu biểu (SGK Hình 8.4)</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Dựa theo vị trí tương đối giữa các mép tấm kim loại khi ghép nối.</a:t>
            </a:r>
          </a:p>
        </p:txBody>
      </p:sp>
      <p:sp>
        <p:nvSpPr>
          <p:cNvPr id="6" name="Rounded Rectangle 5"/>
          <p:cNvSpPr/>
          <p:nvPr/>
        </p:nvSpPr>
        <p:spPr>
          <a:xfrm>
            <a:off x="731520" y="2377440"/>
            <a:ext cx="1920240" cy="2194560"/>
          </a:xfrm>
          <a:prstGeom prst="roundRect">
            <a:avLst/>
          </a:prstGeom>
          <a:solidFill>
            <a:srgbClr val="121820"/>
          </a:solidFill>
          <a:ln w="15240">
            <a:solidFill>
              <a:srgbClr val="2633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1. GIÁP MỐI</a:t>
            </a:r>
          </a:p>
          <a:p>
            <a:pPr>
              <a:spcAft>
                <a:spcPts val="800"/>
              </a:spcAft>
              <a:defRPr sz="1200">
                <a:solidFill>
                  <a:srgbClr val="F59E0B"/>
                </a:solidFill>
                <a:latin typeface="Be Vietnam Pro"/>
              </a:defRPr>
            </a:pPr>
            <a:r>
              <a:t>Butt Joint</a:t>
            </a:r>
          </a:p>
          <a:p>
            <a:pPr>
              <a:spcAft>
                <a:spcPts val="400"/>
              </a:spcAft>
              <a:defRPr sz="1300">
                <a:solidFill>
                  <a:srgbClr val="94A3B8"/>
                </a:solidFill>
                <a:latin typeface="Be Vietnam Pro"/>
              </a:defRPr>
            </a:pPr>
            <a:r>
              <a:t>• Hai mép tấm đặt phẳng đối đầu nhau.</a:t>
            </a:r>
          </a:p>
          <a:p>
            <a:pPr>
              <a:spcAft>
                <a:spcPts val="400"/>
              </a:spcAft>
              <a:defRPr sz="1300">
                <a:solidFill>
                  <a:srgbClr val="94A3B8"/>
                </a:solidFill>
                <a:latin typeface="Be Vietnam Pro"/>
              </a:defRPr>
            </a:pPr>
            <a:r>
              <a:t>• Mối hàn chịu lực kéo/nén đều.</a:t>
            </a:r>
          </a:p>
        </p:txBody>
      </p:sp>
      <p:sp>
        <p:nvSpPr>
          <p:cNvPr id="7" name="Rounded Rectangle 6"/>
          <p:cNvSpPr/>
          <p:nvPr/>
        </p:nvSpPr>
        <p:spPr>
          <a:xfrm>
            <a:off x="2926080" y="2377440"/>
            <a:ext cx="1920240" cy="2194560"/>
          </a:xfrm>
          <a:prstGeom prst="roundRect">
            <a:avLst/>
          </a:prstGeom>
          <a:solidFill>
            <a:srgbClr val="121820"/>
          </a:solidFill>
          <a:ln w="15240">
            <a:solidFill>
              <a:srgbClr val="2633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2. HÀN CHỒNG</a:t>
            </a:r>
          </a:p>
          <a:p>
            <a:pPr>
              <a:spcAft>
                <a:spcPts val="800"/>
              </a:spcAft>
              <a:defRPr sz="1200">
                <a:solidFill>
                  <a:srgbClr val="F59E0B"/>
                </a:solidFill>
                <a:latin typeface="Be Vietnam Pro"/>
              </a:defRPr>
            </a:pPr>
            <a:r>
              <a:t>Lap Joint</a:t>
            </a:r>
          </a:p>
          <a:p>
            <a:pPr>
              <a:spcAft>
                <a:spcPts val="400"/>
              </a:spcAft>
              <a:defRPr sz="1300">
                <a:solidFill>
                  <a:srgbClr val="94A3B8"/>
                </a:solidFill>
                <a:latin typeface="Be Vietnam Pro"/>
              </a:defRPr>
            </a:pPr>
            <a:r>
              <a:t>• Hai tấm xếp gối mép lên nhau.</a:t>
            </a:r>
          </a:p>
          <a:p>
            <a:pPr>
              <a:spcAft>
                <a:spcPts val="400"/>
              </a:spcAft>
              <a:defRPr sz="1300">
                <a:solidFill>
                  <a:srgbClr val="94A3B8"/>
                </a:solidFill>
                <a:latin typeface="Be Vietnam Pro"/>
              </a:defRPr>
            </a:pPr>
            <a:r>
              <a:t>• Dễ gá đặt, hàn 2 mép góc.</a:t>
            </a:r>
          </a:p>
        </p:txBody>
      </p:sp>
      <p:sp>
        <p:nvSpPr>
          <p:cNvPr id="8" name="Rounded Rectangle 7"/>
          <p:cNvSpPr/>
          <p:nvPr/>
        </p:nvSpPr>
        <p:spPr>
          <a:xfrm>
            <a:off x="5120640" y="2377440"/>
            <a:ext cx="1920240" cy="2194560"/>
          </a:xfrm>
          <a:prstGeom prst="roundRect">
            <a:avLst/>
          </a:prstGeom>
          <a:solidFill>
            <a:srgbClr val="12182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3. HÀN CHỮ T</a:t>
            </a:r>
          </a:p>
          <a:p>
            <a:pPr>
              <a:spcAft>
                <a:spcPts val="800"/>
              </a:spcAft>
              <a:defRPr sz="1200">
                <a:solidFill>
                  <a:srgbClr val="F59E0B"/>
                </a:solidFill>
                <a:latin typeface="Be Vietnam Pro"/>
              </a:defRPr>
            </a:pPr>
            <a:r>
              <a:t>T-Joint</a:t>
            </a:r>
          </a:p>
          <a:p>
            <a:pPr>
              <a:spcAft>
                <a:spcPts val="400"/>
              </a:spcAft>
              <a:defRPr sz="1300">
                <a:solidFill>
                  <a:srgbClr val="94A3B8"/>
                </a:solidFill>
                <a:latin typeface="Be Vietnam Pro"/>
              </a:defRPr>
            </a:pPr>
            <a:r>
              <a:t>• Một tấm dựng vuông góc mặt tấm kia.</a:t>
            </a:r>
          </a:p>
          <a:p>
            <a:pPr>
              <a:spcAft>
                <a:spcPts val="400"/>
              </a:spcAft>
              <a:defRPr sz="1300">
                <a:solidFill>
                  <a:srgbClr val="94A3B8"/>
                </a:solidFill>
                <a:latin typeface="Be Vietnam Pro"/>
              </a:defRPr>
            </a:pPr>
            <a:r>
              <a:t>• Tạo vách ngăn, dầm chữ I.</a:t>
            </a:r>
          </a:p>
        </p:txBody>
      </p:sp>
      <p:sp>
        <p:nvSpPr>
          <p:cNvPr id="9" name="Rounded Rectangle 8"/>
          <p:cNvSpPr/>
          <p:nvPr/>
        </p:nvSpPr>
        <p:spPr>
          <a:xfrm>
            <a:off x="7315200" y="2377440"/>
            <a:ext cx="1920240" cy="2194560"/>
          </a:xfrm>
          <a:prstGeom prst="roundRect">
            <a:avLst/>
          </a:prstGeom>
          <a:solidFill>
            <a:srgbClr val="121820"/>
          </a:solidFill>
          <a:ln w="15240">
            <a:solidFill>
              <a:srgbClr val="2633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4. HÀN GÓC</a:t>
            </a:r>
          </a:p>
          <a:p>
            <a:pPr>
              <a:spcAft>
                <a:spcPts val="800"/>
              </a:spcAft>
              <a:defRPr sz="1200">
                <a:solidFill>
                  <a:srgbClr val="F59E0B"/>
                </a:solidFill>
                <a:latin typeface="Be Vietnam Pro"/>
              </a:defRPr>
            </a:pPr>
            <a:r>
              <a:t>Corner Joint</a:t>
            </a:r>
          </a:p>
          <a:p>
            <a:pPr>
              <a:spcAft>
                <a:spcPts val="400"/>
              </a:spcAft>
              <a:defRPr sz="1300">
                <a:solidFill>
                  <a:srgbClr val="94A3B8"/>
                </a:solidFill>
                <a:latin typeface="Be Vietnam Pro"/>
              </a:defRPr>
            </a:pPr>
            <a:r>
              <a:t>• Hai tấm ghép tạo góc nhọn hoặc vuông.</a:t>
            </a:r>
          </a:p>
          <a:p>
            <a:pPr>
              <a:spcAft>
                <a:spcPts val="400"/>
              </a:spcAft>
              <a:defRPr sz="1300">
                <a:solidFill>
                  <a:srgbClr val="94A3B8"/>
                </a:solidFill>
                <a:latin typeface="Be Vietnam Pro"/>
              </a:defRPr>
            </a:pPr>
            <a:r>
              <a:t>• Hàn thành hộp kín, vỏ máy.</a:t>
            </a:r>
          </a:p>
        </p:txBody>
      </p:sp>
      <p:sp>
        <p:nvSpPr>
          <p:cNvPr id="10" name="Rounded Rectangle 9"/>
          <p:cNvSpPr/>
          <p:nvPr/>
        </p:nvSpPr>
        <p:spPr>
          <a:xfrm>
            <a:off x="9509760" y="2377440"/>
            <a:ext cx="1920240" cy="2194560"/>
          </a:xfrm>
          <a:prstGeom prst="roundRect">
            <a:avLst/>
          </a:prstGeom>
          <a:solidFill>
            <a:srgbClr val="121820"/>
          </a:solidFill>
          <a:ln w="15240">
            <a:solidFill>
              <a:srgbClr val="2633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5. GẤP MÉP</a:t>
            </a:r>
          </a:p>
          <a:p>
            <a:pPr>
              <a:spcAft>
                <a:spcPts val="800"/>
              </a:spcAft>
              <a:defRPr sz="1200">
                <a:solidFill>
                  <a:srgbClr val="F59E0B"/>
                </a:solidFill>
                <a:latin typeface="Be Vietnam Pro"/>
              </a:defRPr>
            </a:pPr>
            <a:r>
              <a:t>Edge Joint</a:t>
            </a:r>
          </a:p>
          <a:p>
            <a:pPr>
              <a:spcAft>
                <a:spcPts val="400"/>
              </a:spcAft>
              <a:defRPr sz="1300">
                <a:solidFill>
                  <a:srgbClr val="94A3B8"/>
                </a:solidFill>
                <a:latin typeface="Be Vietnam Pro"/>
              </a:defRPr>
            </a:pPr>
            <a:r>
              <a:t>• Mép tấm mỏng uốn gập lại và hàn kín.</a:t>
            </a:r>
          </a:p>
          <a:p>
            <a:pPr>
              <a:spcAft>
                <a:spcPts val="400"/>
              </a:spcAft>
              <a:defRPr sz="1300">
                <a:solidFill>
                  <a:srgbClr val="94A3B8"/>
                </a:solidFill>
                <a:latin typeface="Be Vietnam Pro"/>
              </a:defRPr>
            </a:pPr>
            <a:r>
              <a:t>• Hàn thùng, bồn chứa mỏng.</a:t>
            </a:r>
          </a:p>
        </p:txBody>
      </p:sp>
      <p:sp>
        <p:nvSpPr>
          <p:cNvPr id="11" name="Rounded Rectangle 10"/>
          <p:cNvSpPr/>
          <p:nvPr/>
        </p:nvSpPr>
        <p:spPr>
          <a:xfrm>
            <a:off x="731520" y="4754880"/>
            <a:ext cx="10698480" cy="1463040"/>
          </a:xfrm>
          <a:prstGeom prst="roundRect">
            <a:avLst/>
          </a:prstGeom>
          <a:solidFill>
            <a:srgbClr val="121820"/>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CẢNH BÁO KỸ THUẬT QUAN TRỌNG (SGK TRANG 41)</a:t>
            </a:r>
          </a:p>
          <a:p>
            <a:pPr>
              <a:spcAft>
                <a:spcPts val="400"/>
              </a:spcAft>
              <a:defRPr sz="1300">
                <a:solidFill>
                  <a:srgbClr val="94A3B8"/>
                </a:solidFill>
                <a:latin typeface="Be Vietnam Pro"/>
              </a:defRPr>
            </a:pPr>
            <a:r>
              <a:t>• ƯU ĐIỂM: Tiết kiệm kim loại, giảm khối lượng kết cấu so với tán đinh, mối hàn kín khít tuyệt đối.</a:t>
            </a:r>
          </a:p>
          <a:p>
            <a:pPr>
              <a:spcAft>
                <a:spcPts val="400"/>
              </a:spcAft>
              <a:defRPr sz="1300">
                <a:solidFill>
                  <a:srgbClr val="94A3B8"/>
                </a:solidFill>
                <a:latin typeface="Be Vietnam Pro"/>
              </a:defRPr>
            </a:pPr>
            <a:r>
              <a:t>• HẠN CHẾ CỐT LÕI: Nhiệt độ nung nóng không đều gây ứng suất dư cục bộ, DỄ LÀM CONG VÊNH, BIẾN DẠNG HÌNH HỌC chi tiết sau khi nguội.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00E5FF"/>
                </a:solidFill>
                <a:latin typeface="Be Vietnam Pro"/>
              </a:defRPr>
            </a:pPr>
            <a:r>
              <a:t>● PHƯƠNG PHÁP III · GIA CÔNG CẮT GỌT</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Gia công khoan — Mũi khoan ruột gà &amp; 4 nguyên công lỗ</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SGK Công nghệ 11 trang 41 — Chuyển động cắt gồm 2 chuyển động đồng thời của mũi khoan.</a:t>
            </a:r>
          </a:p>
        </p:txBody>
      </p:sp>
      <p:sp>
        <p:nvSpPr>
          <p:cNvPr id="6" name="Rounded Rectangle 5"/>
          <p:cNvSpPr/>
          <p:nvPr/>
        </p:nvSpPr>
        <p:spPr>
          <a:xfrm>
            <a:off x="731520" y="2377440"/>
            <a:ext cx="6035040" cy="3840480"/>
          </a:xfrm>
          <a:prstGeom prst="roundRect">
            <a:avLst/>
          </a:prstGeom>
          <a:solidFill>
            <a:srgbClr val="12182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HAI CHUYỂN ĐỘNG &amp; 4 NGUYÊN CÔNG LỖ</a:t>
            </a:r>
          </a:p>
          <a:p>
            <a:pPr>
              <a:spcAft>
                <a:spcPts val="800"/>
              </a:spcAft>
              <a:defRPr sz="1200">
                <a:solidFill>
                  <a:srgbClr val="F59E0B"/>
                </a:solidFill>
                <a:latin typeface="Be Vietnam Pro"/>
              </a:defRPr>
            </a:pPr>
            <a:r>
              <a:t>Mũi khoan ruột gà (Twist Drill)</a:t>
            </a:r>
          </a:p>
          <a:p>
            <a:pPr>
              <a:spcAft>
                <a:spcPts val="400"/>
              </a:spcAft>
              <a:defRPr sz="1300">
                <a:solidFill>
                  <a:srgbClr val="94A3B8"/>
                </a:solidFill>
                <a:latin typeface="Be Vietnam Pro"/>
              </a:defRPr>
            </a:pPr>
            <a:r>
              <a:t>• Chuyển động chính (Quay tròn): Mũi khoan quay với vận tốc cắt Vc (m/phút).</a:t>
            </a:r>
          </a:p>
          <a:p>
            <a:pPr>
              <a:spcAft>
                <a:spcPts val="400"/>
              </a:spcAft>
              <a:defRPr sz="1300">
                <a:solidFill>
                  <a:srgbClr val="94A3B8"/>
                </a:solidFill>
                <a:latin typeface="Be Vietnam Pro"/>
              </a:defRPr>
            </a:pPr>
            <a:r>
              <a:t>• Chuyển động chạy dao (Tịnh tiến): Mũi khoan tịnh tiến dọc trục (S mm/vòng).</a:t>
            </a:r>
          </a:p>
          <a:p>
            <a:pPr>
              <a:spcAft>
                <a:spcPts val="400"/>
              </a:spcAft>
              <a:defRPr sz="1300">
                <a:solidFill>
                  <a:srgbClr val="94A3B8"/>
                </a:solidFill>
                <a:latin typeface="Be Vietnam Pro"/>
              </a:defRPr>
            </a:pPr>
            <a:r>
              <a:t>• Phoi xoắn ruột gà thoát ra ngoài theo rãnh xoắn ốc của thân mũi khoan.</a:t>
            </a:r>
          </a:p>
          <a:p>
            <a:pPr>
              <a:spcAft>
                <a:spcPts val="400"/>
              </a:spcAft>
              <a:defRPr sz="1300">
                <a:solidFill>
                  <a:srgbClr val="94A3B8"/>
                </a:solidFill>
                <a:latin typeface="Be Vietnam Pro"/>
              </a:defRPr>
            </a:pPr>
            <a:r>
              <a:t>• • KHOAN (Drilling): Tạo lỗ ban đầu trên phôi đặc nguyên khối.</a:t>
            </a:r>
          </a:p>
          <a:p>
            <a:pPr>
              <a:spcAft>
                <a:spcPts val="400"/>
              </a:spcAft>
              <a:defRPr sz="1300">
                <a:solidFill>
                  <a:srgbClr val="94A3B8"/>
                </a:solidFill>
                <a:latin typeface="Be Vietnam Pro"/>
              </a:defRPr>
            </a:pPr>
            <a:r>
              <a:t>• • KHOÉT (Counterboring): Mở rộng đường kính lỗ đã có sẵn sau khi đúc.</a:t>
            </a:r>
          </a:p>
          <a:p>
            <a:pPr>
              <a:spcAft>
                <a:spcPts val="400"/>
              </a:spcAft>
              <a:defRPr sz="1300">
                <a:solidFill>
                  <a:srgbClr val="94A3B8"/>
                </a:solidFill>
                <a:latin typeface="Be Vietnam Pro"/>
              </a:defRPr>
            </a:pPr>
            <a:r>
              <a:t>• • DOA (Reaming): Gia công tinh bề mặt lỗ đạt độ bóng và chính xác cao.</a:t>
            </a:r>
          </a:p>
          <a:p>
            <a:pPr>
              <a:spcAft>
                <a:spcPts val="400"/>
              </a:spcAft>
              <a:defRPr sz="1300">
                <a:solidFill>
                  <a:srgbClr val="94A3B8"/>
                </a:solidFill>
                <a:latin typeface="Be Vietnam Pro"/>
              </a:defRPr>
            </a:pPr>
            <a:r>
              <a:t>• • TARO (Tapping): Cắt ren trong của lỗ trụ.</a:t>
            </a:r>
          </a:p>
        </p:txBody>
      </p:sp>
      <p:pic>
        <p:nvPicPr>
          <p:cNvPr id="7" name="Picture 6" descr="drilling.jpg"/>
          <p:cNvPicPr>
            <a:picLocks noChangeAspect="1"/>
          </p:cNvPicPr>
          <p:nvPr/>
        </p:nvPicPr>
        <p:blipFill>
          <a:blip r:embed="rId2"/>
          <a:stretch>
            <a:fillRect/>
          </a:stretch>
        </p:blipFill>
        <p:spPr>
          <a:xfrm>
            <a:off x="7040880" y="2377440"/>
            <a:ext cx="4389120" cy="38404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F59E0B"/>
                </a:solidFill>
                <a:latin typeface="Be Vietnam Pro"/>
              </a:defRPr>
            </a:pPr>
            <a:r>
              <a:t>● PHƯƠNG PHÁP IV · GIA CÔNG MẶT TRÒN XOAY</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Gia công tiện — Máy tiện vạn năng &amp; 3 chiều chạy dao</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SGK Công nghệ 11 trang 42-43 — Phương pháp cắt gọt chiếm 30-40% khối lượng gia công cơ khí.</a:t>
            </a:r>
          </a:p>
        </p:txBody>
      </p:sp>
      <p:sp>
        <p:nvSpPr>
          <p:cNvPr id="6" name="Rounded Rectangle 5"/>
          <p:cNvSpPr/>
          <p:nvPr/>
        </p:nvSpPr>
        <p:spPr>
          <a:xfrm>
            <a:off x="731520" y="2377440"/>
            <a:ext cx="6035040" cy="3840480"/>
          </a:xfrm>
          <a:prstGeom prst="roundRect">
            <a:avLst/>
          </a:prstGeom>
          <a:solidFill>
            <a:srgbClr val="12182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CẤU TẠO MÁY TIỆN &amp; QUY TẮC CHUYỂN ĐỘNG</a:t>
            </a:r>
          </a:p>
          <a:p>
            <a:pPr>
              <a:spcAft>
                <a:spcPts val="800"/>
              </a:spcAft>
              <a:defRPr sz="1200">
                <a:solidFill>
                  <a:srgbClr val="F59E0B"/>
                </a:solidFill>
                <a:latin typeface="Be Vietnam Pro"/>
              </a:defRPr>
            </a:pPr>
            <a:r>
              <a:t>Phôi quay là chuyển động chính</a:t>
            </a:r>
          </a:p>
          <a:p>
            <a:pPr>
              <a:spcAft>
                <a:spcPts val="400"/>
              </a:spcAft>
              <a:defRPr sz="1300">
                <a:solidFill>
                  <a:srgbClr val="94A3B8"/>
                </a:solidFill>
                <a:latin typeface="Be Vietnam Pro"/>
              </a:defRPr>
            </a:pPr>
            <a:r>
              <a:t>• 5 Bộ phận máy tiện: Hộp tốc độ, Mâm cặp 3 chấu, Bàn gá dao, Ụ động, Thân máy.</a:t>
            </a:r>
          </a:p>
          <a:p>
            <a:pPr>
              <a:spcAft>
                <a:spcPts val="400"/>
              </a:spcAft>
              <a:defRPr sz="1300">
                <a:solidFill>
                  <a:srgbClr val="94A3B8"/>
                </a:solidFill>
                <a:latin typeface="Be Vietnam Pro"/>
              </a:defRPr>
            </a:pPr>
            <a:r>
              <a:t>• Chuyển động chính: PHÔI QUAY TRÒN (Vc m/phút) kẹp trên mâm cặp.</a:t>
            </a:r>
          </a:p>
          <a:p>
            <a:pPr>
              <a:spcAft>
                <a:spcPts val="400"/>
              </a:spcAft>
              <a:defRPr sz="1300">
                <a:solidFill>
                  <a:srgbClr val="94A3B8"/>
                </a:solidFill>
                <a:latin typeface="Be Vietnam Pro"/>
              </a:defRPr>
            </a:pPr>
            <a:r>
              <a:t>• Chuyển động chạy dao: DAO TIỆN TỊNH TIẾN gồm 3 phương:</a:t>
            </a:r>
          </a:p>
          <a:p>
            <a:pPr>
              <a:spcAft>
                <a:spcPts val="400"/>
              </a:spcAft>
              <a:defRPr sz="1300">
                <a:solidFill>
                  <a:srgbClr val="94A3B8"/>
                </a:solidFill>
                <a:latin typeface="Be Vietnam Pro"/>
              </a:defRPr>
            </a:pPr>
            <a:r>
              <a:t>• • Chạy dao dọc (Sd): Dao tiến song song tâm phôi --&gt; Tiện mặt trụ.</a:t>
            </a:r>
          </a:p>
          <a:p>
            <a:pPr>
              <a:spcAft>
                <a:spcPts val="400"/>
              </a:spcAft>
              <a:defRPr sz="1300">
                <a:solidFill>
                  <a:srgbClr val="94A3B8"/>
                </a:solidFill>
                <a:latin typeface="Be Vietnam Pro"/>
              </a:defRPr>
            </a:pPr>
            <a:r>
              <a:t>• • Chạy dao ngang (Sng): Dao tiến vuông góc tâm phôi --&gt; Tiện mặt đầu.</a:t>
            </a:r>
          </a:p>
          <a:p>
            <a:pPr>
              <a:spcAft>
                <a:spcPts val="400"/>
              </a:spcAft>
              <a:defRPr sz="1300">
                <a:solidFill>
                  <a:srgbClr val="94A3B8"/>
                </a:solidFill>
                <a:latin typeface="Be Vietnam Pro"/>
              </a:defRPr>
            </a:pPr>
            <a:r>
              <a:t>• • Chạy dao chéo (Sch): Dao tiến nghiêng góc --&gt; Tiện mặt côn.</a:t>
            </a:r>
          </a:p>
          <a:p>
            <a:pPr>
              <a:spcAft>
                <a:spcPts val="400"/>
              </a:spcAft>
              <a:defRPr sz="1300">
                <a:solidFill>
                  <a:srgbClr val="94A3B8"/>
                </a:solidFill>
                <a:latin typeface="Be Vietnam Pro"/>
              </a:defRPr>
            </a:pPr>
            <a:r>
              <a:t>• Dấu hiệu nhận biết: Chi tiết có dạng tròn xoay (trục, ống, côn, ren).</a:t>
            </a:r>
          </a:p>
        </p:txBody>
      </p:sp>
      <p:pic>
        <p:nvPicPr>
          <p:cNvPr id="7" name="Picture 6" descr="lathe.jpg"/>
          <p:cNvPicPr>
            <a:picLocks noChangeAspect="1"/>
          </p:cNvPicPr>
          <p:nvPr/>
        </p:nvPicPr>
        <p:blipFill>
          <a:blip r:embed="rId2"/>
          <a:stretch>
            <a:fillRect/>
          </a:stretch>
        </p:blipFill>
        <p:spPr>
          <a:xfrm>
            <a:off x="7040880" y="2377440"/>
            <a:ext cx="4389120" cy="3840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00E5FF"/>
                </a:solidFill>
                <a:latin typeface="Be Vietnam Pro"/>
              </a:defRPr>
            </a:pPr>
            <a:r>
              <a:t>● PHƯƠNG PHÁP V · MẶT PHẲNG VÀ RÃNH</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Gia công phay — Máy phay đứng &amp; Khả năng công nghệ</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SGK Công nghệ 11 trang 44 — Đối nghịch với tiện: Dao phay quay tròn, phôi tịnh tiến.</a:t>
            </a:r>
          </a:p>
        </p:txBody>
      </p:sp>
      <p:sp>
        <p:nvSpPr>
          <p:cNvPr id="6" name="Rounded Rectangle 5"/>
          <p:cNvSpPr/>
          <p:nvPr/>
        </p:nvSpPr>
        <p:spPr>
          <a:xfrm>
            <a:off x="731520" y="2377440"/>
            <a:ext cx="6035040" cy="3840480"/>
          </a:xfrm>
          <a:prstGeom prst="roundRect">
            <a:avLst/>
          </a:prstGeom>
          <a:solidFill>
            <a:srgbClr val="12182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NGUYÊN LÍ CHUYỂN ĐỘNG &amp; KHẢ NĂNG CÔNG NGHỆ</a:t>
            </a:r>
          </a:p>
          <a:p>
            <a:pPr>
              <a:spcAft>
                <a:spcPts val="800"/>
              </a:spcAft>
              <a:defRPr sz="1200">
                <a:solidFill>
                  <a:srgbClr val="F59E0B"/>
                </a:solidFill>
                <a:latin typeface="Be Vietnam Pro"/>
              </a:defRPr>
            </a:pPr>
            <a:r>
              <a:t>Dao quay là chuyển động chính</a:t>
            </a:r>
          </a:p>
          <a:p>
            <a:pPr>
              <a:spcAft>
                <a:spcPts val="400"/>
              </a:spcAft>
              <a:defRPr sz="1300">
                <a:solidFill>
                  <a:srgbClr val="94A3B8"/>
                </a:solidFill>
                <a:latin typeface="Be Vietnam Pro"/>
              </a:defRPr>
            </a:pPr>
            <a:r>
              <a:t>• Chuyển động chính: DAO PHAY QUAY TRÒN với vận tốc cắt V (m/phút).</a:t>
            </a:r>
          </a:p>
          <a:p>
            <a:pPr>
              <a:spcAft>
                <a:spcPts val="400"/>
              </a:spcAft>
              <a:defRPr sz="1300">
                <a:solidFill>
                  <a:srgbClr val="94A3B8"/>
                </a:solidFill>
                <a:latin typeface="Be Vietnam Pro"/>
              </a:defRPr>
            </a:pPr>
            <a:r>
              <a:t>• Chuyển động chạy dao: PHÔI TỊNH TIẾN kẹp trên bàn máy theo 3 phương (dọc, ngang, đứng).</a:t>
            </a:r>
          </a:p>
          <a:p>
            <a:pPr>
              <a:spcAft>
                <a:spcPts val="400"/>
              </a:spcAft>
              <a:defRPr sz="1300">
                <a:solidFill>
                  <a:srgbClr val="94A3B8"/>
                </a:solidFill>
                <a:latin typeface="Be Vietnam Pro"/>
              </a:defRPr>
            </a:pPr>
            <a:r>
              <a:t>• Cấu tạo máy phay đứng: Trục chính, động cơ, tay quay 3 chiều, bàn máy, thân đế.</a:t>
            </a:r>
          </a:p>
          <a:p>
            <a:pPr>
              <a:spcAft>
                <a:spcPts val="400"/>
              </a:spcAft>
              <a:defRPr sz="1300">
                <a:solidFill>
                  <a:srgbClr val="94A3B8"/>
                </a:solidFill>
                <a:latin typeface="Be Vietnam Pro"/>
              </a:defRPr>
            </a:pPr>
            <a:r>
              <a:t>• Khả năng công nghệ vượt trội:</a:t>
            </a:r>
          </a:p>
          <a:p>
            <a:pPr>
              <a:spcAft>
                <a:spcPts val="400"/>
              </a:spcAft>
              <a:defRPr sz="1300">
                <a:solidFill>
                  <a:srgbClr val="94A3B8"/>
                </a:solidFill>
                <a:latin typeface="Be Vietnam Pro"/>
              </a:defRPr>
            </a:pPr>
            <a:r>
              <a:t>• • Mặt phẳng: Nằm ngang, đứng, nghiêng bằng dao phay mặt đầu.</a:t>
            </a:r>
          </a:p>
          <a:p>
            <a:pPr>
              <a:spcAft>
                <a:spcPts val="400"/>
              </a:spcAft>
              <a:defRPr sz="1300">
                <a:solidFill>
                  <a:srgbClr val="94A3B8"/>
                </a:solidFill>
                <a:latin typeface="Be Vietnam Pro"/>
              </a:defRPr>
            </a:pPr>
            <a:r>
              <a:t>• • Rãnh các loại: Rãnh then, rãnh chữ T, rãnh mang cá.</a:t>
            </a:r>
          </a:p>
          <a:p>
            <a:pPr>
              <a:spcAft>
                <a:spcPts val="400"/>
              </a:spcAft>
              <a:defRPr sz="1300">
                <a:solidFill>
                  <a:srgbClr val="94A3B8"/>
                </a:solidFill>
                <a:latin typeface="Be Vietnam Pro"/>
              </a:defRPr>
            </a:pPr>
            <a:r>
              <a:t>• • Bề mặt định hình phức tạp trên máy phay CNC.</a:t>
            </a:r>
          </a:p>
        </p:txBody>
      </p:sp>
      <p:pic>
        <p:nvPicPr>
          <p:cNvPr id="7" name="Picture 6" descr="milling.jpg"/>
          <p:cNvPicPr>
            <a:picLocks noChangeAspect="1"/>
          </p:cNvPicPr>
          <p:nvPr/>
        </p:nvPicPr>
        <p:blipFill>
          <a:blip r:embed="rId2"/>
          <a:stretch>
            <a:fillRect/>
          </a:stretch>
        </p:blipFill>
        <p:spPr>
          <a:xfrm>
            <a:off x="7040880" y="2377440"/>
            <a:ext cx="4389120" cy="38404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8B5CF6"/>
                </a:solidFill>
                <a:latin typeface="Be Vietnam Pro"/>
              </a:defRPr>
            </a:pPr>
            <a:r>
              <a:t>● BẢNG TỔNG HỢP CÔNG NGHỆ</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So sánh năm phương pháp gia công cơ khí</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Chìa khóa nhận diện chuyển động và mục đích sử dụng từng phương pháp.</a:t>
            </a:r>
          </a:p>
        </p:txBody>
      </p:sp>
      <p:graphicFrame>
        <p:nvGraphicFramePr>
          <p:cNvPr id="6" name="Table 5"/>
          <p:cNvGraphicFramePr>
            <a:graphicFrameLocks noGrp="1"/>
          </p:cNvGraphicFramePr>
          <p:nvPr/>
        </p:nvGraphicFramePr>
        <p:xfrm>
          <a:off x="731520" y="2194560"/>
          <a:ext cx="10698480" cy="4114800"/>
        </p:xfrm>
        <a:graphic>
          <a:graphicData uri="http://schemas.openxmlformats.org/drawingml/2006/table">
            <a:tbl>
              <a:tblPr firstRow="1" bandRow="1">
                <a:tableStyleId>{5C22544A-7EE6-4342-B048-85BDC9FD1C3A}</a:tableStyleId>
              </a:tblPr>
              <a:tblGrid>
                <a:gridCol w="2674620"/>
                <a:gridCol w="2674620"/>
                <a:gridCol w="2674620"/>
                <a:gridCol w="2674620"/>
              </a:tblGrid>
              <a:tr h="685800">
                <a:tc>
                  <a:txBody>
                    <a:bodyPr/>
                    <a:lstStyle/>
                    <a:p>
                      <a:pPr>
                        <a:defRPr sz="1300" b="1">
                          <a:solidFill>
                            <a:srgbClr val="F59E0B"/>
                          </a:solidFill>
                          <a:latin typeface="Be Vietnam Pro"/>
                        </a:defRPr>
                      </a:pPr>
                      <a:r>
                        <a:t>PHƯƠNG PHÁP</a:t>
                      </a:r>
                    </a:p>
                  </a:txBody>
                  <a:tcPr>
                    <a:solidFill>
                      <a:srgbClr val="121820"/>
                    </a:solidFill>
                  </a:tcPr>
                </a:tc>
                <a:tc>
                  <a:txBody>
                    <a:bodyPr/>
                    <a:lstStyle/>
                    <a:p>
                      <a:pPr>
                        <a:defRPr sz="1300" b="1">
                          <a:solidFill>
                            <a:srgbClr val="F59E0B"/>
                          </a:solidFill>
                          <a:latin typeface="Be Vietnam Pro"/>
                        </a:defRPr>
                      </a:pPr>
                      <a:r>
                        <a:t>CHUYỂN ĐỘNG / CƠ CHẾ</a:t>
                      </a:r>
                    </a:p>
                  </a:txBody>
                  <a:tcPr>
                    <a:solidFill>
                      <a:srgbClr val="121820"/>
                    </a:solidFill>
                  </a:tcPr>
                </a:tc>
                <a:tc>
                  <a:txBody>
                    <a:bodyPr/>
                    <a:lstStyle/>
                    <a:p>
                      <a:pPr>
                        <a:defRPr sz="1300" b="1">
                          <a:solidFill>
                            <a:srgbClr val="F59E0B"/>
                          </a:solidFill>
                          <a:latin typeface="Be Vietnam Pro"/>
                        </a:defRPr>
                      </a:pPr>
                      <a:r>
                        <a:t>MỤC ĐÍCH TIÊU BIỂU</a:t>
                      </a:r>
                    </a:p>
                  </a:txBody>
                  <a:tcPr>
                    <a:solidFill>
                      <a:srgbClr val="121820"/>
                    </a:solidFill>
                  </a:tcPr>
                </a:tc>
                <a:tc>
                  <a:txBody>
                    <a:bodyPr/>
                    <a:lstStyle/>
                    <a:p>
                      <a:pPr>
                        <a:defRPr sz="1300" b="1">
                          <a:solidFill>
                            <a:srgbClr val="F59E0B"/>
                          </a:solidFill>
                          <a:latin typeface="Be Vietnam Pro"/>
                        </a:defRPr>
                      </a:pPr>
                      <a:r>
                        <a:t>DẤU HIỆU NHẬN BIẾT</a:t>
                      </a:r>
                    </a:p>
                  </a:txBody>
                  <a:tcPr>
                    <a:solidFill>
                      <a:srgbClr val="121820"/>
                    </a:solidFill>
                  </a:tcPr>
                </a:tc>
              </a:tr>
              <a:tr h="685800">
                <a:tc>
                  <a:txBody>
                    <a:bodyPr/>
                    <a:lstStyle/>
                    <a:p>
                      <a:pPr>
                        <a:defRPr sz="1200" b="1">
                          <a:solidFill>
                            <a:srgbClr val="F0F4F8"/>
                          </a:solidFill>
                          <a:latin typeface="Be Vietnam Pro"/>
                        </a:defRPr>
                      </a:pPr>
                      <a:r>
                        <a:t>1. ĐÚC</a:t>
                      </a:r>
                    </a:p>
                  </a:txBody>
                  <a:tcPr>
                    <a:solidFill>
                      <a:srgbClr val="0A0D12"/>
                    </a:solidFill>
                  </a:tcPr>
                </a:tc>
                <a:tc>
                  <a:txBody>
                    <a:bodyPr/>
                    <a:lstStyle/>
                    <a:p>
                      <a:pPr>
                        <a:defRPr sz="1200">
                          <a:solidFill>
                            <a:srgbClr val="94A3B8"/>
                          </a:solidFill>
                          <a:latin typeface="Be Vietnam Pro"/>
                        </a:defRPr>
                      </a:pPr>
                      <a:r>
                        <a:t>Kim loại lỏng rót vào khuôn --&gt; Đông đặc</a:t>
                      </a:r>
                    </a:p>
                  </a:txBody>
                  <a:tcPr>
                    <a:solidFill>
                      <a:srgbClr val="0A0D12"/>
                    </a:solidFill>
                  </a:tcPr>
                </a:tc>
                <a:tc>
                  <a:txBody>
                    <a:bodyPr/>
                    <a:lstStyle/>
                    <a:p>
                      <a:pPr>
                        <a:defRPr sz="1200">
                          <a:solidFill>
                            <a:srgbClr val="94A3B8"/>
                          </a:solidFill>
                          <a:latin typeface="Be Vietnam Pro"/>
                        </a:defRPr>
                      </a:pPr>
                      <a:r>
                        <a:t>Tạo phôi kết cấu phức tạp, khoang rỗng</a:t>
                      </a:r>
                    </a:p>
                  </a:txBody>
                  <a:tcPr>
                    <a:solidFill>
                      <a:srgbClr val="0A0D12"/>
                    </a:solidFill>
                  </a:tcPr>
                </a:tc>
                <a:tc>
                  <a:txBody>
                    <a:bodyPr/>
                    <a:lstStyle/>
                    <a:p>
                      <a:pPr>
                        <a:defRPr sz="1200">
                          <a:solidFill>
                            <a:srgbClr val="94A3B8"/>
                          </a:solidFill>
                          <a:latin typeface="Be Vietnam Pro"/>
                        </a:defRPr>
                      </a:pPr>
                      <a:r>
                        <a:t>Có bavia, đậu ngót, bề mặt thô nhám</a:t>
                      </a:r>
                    </a:p>
                  </a:txBody>
                  <a:tcPr>
                    <a:solidFill>
                      <a:srgbClr val="0A0D12"/>
                    </a:solidFill>
                  </a:tcPr>
                </a:tc>
              </a:tr>
              <a:tr h="685800">
                <a:tc>
                  <a:txBody>
                    <a:bodyPr/>
                    <a:lstStyle/>
                    <a:p>
                      <a:pPr>
                        <a:defRPr sz="1200" b="1">
                          <a:solidFill>
                            <a:srgbClr val="F0F4F8"/>
                          </a:solidFill>
                          <a:latin typeface="Be Vietnam Pro"/>
                        </a:defRPr>
                      </a:pPr>
                      <a:r>
                        <a:t>2. HÀN</a:t>
                      </a:r>
                    </a:p>
                  </a:txBody>
                  <a:tcPr>
                    <a:solidFill>
                      <a:srgbClr val="0A0D12"/>
                    </a:solidFill>
                  </a:tcPr>
                </a:tc>
                <a:tc>
                  <a:txBody>
                    <a:bodyPr/>
                    <a:lstStyle/>
                    <a:p>
                      <a:pPr>
                        <a:defRPr sz="1200">
                          <a:solidFill>
                            <a:srgbClr val="94A3B8"/>
                          </a:solidFill>
                          <a:latin typeface="Be Vietnam Pro"/>
                        </a:defRPr>
                      </a:pPr>
                      <a:r>
                        <a:t>Nung nóng chảy mép nối --&gt; Kết tinh</a:t>
                      </a:r>
                    </a:p>
                  </a:txBody>
                  <a:tcPr>
                    <a:solidFill>
                      <a:srgbClr val="0A0D12"/>
                    </a:solidFill>
                  </a:tcPr>
                </a:tc>
                <a:tc>
                  <a:txBody>
                    <a:bodyPr/>
                    <a:lstStyle/>
                    <a:p>
                      <a:pPr>
                        <a:defRPr sz="1200">
                          <a:solidFill>
                            <a:srgbClr val="94A3B8"/>
                          </a:solidFill>
                          <a:latin typeface="Be Vietnam Pro"/>
                        </a:defRPr>
                      </a:pPr>
                      <a:r>
                        <a:t>Tạo mối liên kết kim loại vĩnh cửu</a:t>
                      </a:r>
                    </a:p>
                  </a:txBody>
                  <a:tcPr>
                    <a:solidFill>
                      <a:srgbClr val="0A0D12"/>
                    </a:solidFill>
                  </a:tcPr>
                </a:tc>
                <a:tc>
                  <a:txBody>
                    <a:bodyPr/>
                    <a:lstStyle/>
                    <a:p>
                      <a:pPr>
                        <a:defRPr sz="1200">
                          <a:solidFill>
                            <a:srgbClr val="94A3B8"/>
                          </a:solidFill>
                          <a:latin typeface="Be Vietnam Pro"/>
                        </a:defRPr>
                      </a:pPr>
                      <a:r>
                        <a:t>Đường hàn vảy cá, gân liên kết</a:t>
                      </a:r>
                    </a:p>
                  </a:txBody>
                  <a:tcPr>
                    <a:solidFill>
                      <a:srgbClr val="0A0D12"/>
                    </a:solidFill>
                  </a:tcPr>
                </a:tc>
              </a:tr>
              <a:tr h="685800">
                <a:tc>
                  <a:txBody>
                    <a:bodyPr/>
                    <a:lstStyle/>
                    <a:p>
                      <a:pPr>
                        <a:defRPr sz="1200" b="1">
                          <a:solidFill>
                            <a:srgbClr val="F0F4F8"/>
                          </a:solidFill>
                          <a:latin typeface="Be Vietnam Pro"/>
                        </a:defRPr>
                      </a:pPr>
                      <a:r>
                        <a:t>3. KHOAN</a:t>
                      </a:r>
                    </a:p>
                  </a:txBody>
                  <a:tcPr>
                    <a:solidFill>
                      <a:srgbClr val="0A0D12"/>
                    </a:solidFill>
                  </a:tcPr>
                </a:tc>
                <a:tc>
                  <a:txBody>
                    <a:bodyPr/>
                    <a:lstStyle/>
                    <a:p>
                      <a:pPr>
                        <a:defRPr sz="1200">
                          <a:solidFill>
                            <a:srgbClr val="94A3B8"/>
                          </a:solidFill>
                          <a:latin typeface="Be Vietnam Pro"/>
                        </a:defRPr>
                      </a:pPr>
                      <a:r>
                        <a:t>Mũi khoan quay (Vc) + tịnh tiến (S)</a:t>
                      </a:r>
                    </a:p>
                  </a:txBody>
                  <a:tcPr>
                    <a:solidFill>
                      <a:srgbClr val="0A0D12"/>
                    </a:solidFill>
                  </a:tcPr>
                </a:tc>
                <a:tc>
                  <a:txBody>
                    <a:bodyPr/>
                    <a:lstStyle/>
                    <a:p>
                      <a:pPr>
                        <a:defRPr sz="1200">
                          <a:solidFill>
                            <a:srgbClr val="94A3B8"/>
                          </a:solidFill>
                          <a:latin typeface="Be Vietnam Pro"/>
                        </a:defRPr>
                      </a:pPr>
                      <a:r>
                        <a:t>Tạo lỗ hình trụ tròn từ phôi đặc</a:t>
                      </a:r>
                    </a:p>
                  </a:txBody>
                  <a:tcPr>
                    <a:solidFill>
                      <a:srgbClr val="0A0D12"/>
                    </a:solidFill>
                  </a:tcPr>
                </a:tc>
                <a:tc>
                  <a:txBody>
                    <a:bodyPr/>
                    <a:lstStyle/>
                    <a:p>
                      <a:pPr>
                        <a:defRPr sz="1200">
                          <a:solidFill>
                            <a:srgbClr val="94A3B8"/>
                          </a:solidFill>
                          <a:latin typeface="Be Vietnam Pro"/>
                        </a:defRPr>
                      </a:pPr>
                      <a:r>
                        <a:t>Lỗ trụ tròn, phoi xoắn ruột gà</a:t>
                      </a:r>
                    </a:p>
                  </a:txBody>
                  <a:tcPr>
                    <a:solidFill>
                      <a:srgbClr val="0A0D12"/>
                    </a:solidFill>
                  </a:tcPr>
                </a:tc>
              </a:tr>
              <a:tr h="685800">
                <a:tc>
                  <a:txBody>
                    <a:bodyPr/>
                    <a:lstStyle/>
                    <a:p>
                      <a:pPr>
                        <a:defRPr sz="1200" b="1">
                          <a:solidFill>
                            <a:srgbClr val="F0F4F8"/>
                          </a:solidFill>
                          <a:latin typeface="Be Vietnam Pro"/>
                        </a:defRPr>
                      </a:pPr>
                      <a:r>
                        <a:t>4. TIỆN</a:t>
                      </a:r>
                    </a:p>
                  </a:txBody>
                  <a:tcPr>
                    <a:solidFill>
                      <a:srgbClr val="0A0D12"/>
                    </a:solidFill>
                  </a:tcPr>
                </a:tc>
                <a:tc>
                  <a:txBody>
                    <a:bodyPr/>
                    <a:lstStyle/>
                    <a:p>
                      <a:pPr>
                        <a:defRPr sz="1200">
                          <a:solidFill>
                            <a:srgbClr val="94A3B8"/>
                          </a:solidFill>
                          <a:latin typeface="Be Vietnam Pro"/>
                        </a:defRPr>
                      </a:pPr>
                      <a:r>
                        <a:t>PHÔI QUAY TRÒN, Dao tịnh tiến</a:t>
                      </a:r>
                    </a:p>
                  </a:txBody>
                  <a:tcPr>
                    <a:solidFill>
                      <a:srgbClr val="0A0D12"/>
                    </a:solidFill>
                  </a:tcPr>
                </a:tc>
                <a:tc>
                  <a:txBody>
                    <a:bodyPr/>
                    <a:lstStyle/>
                    <a:p>
                      <a:pPr>
                        <a:defRPr sz="1200">
                          <a:solidFill>
                            <a:srgbClr val="94A3B8"/>
                          </a:solidFill>
                          <a:latin typeface="Be Vietnam Pro"/>
                        </a:defRPr>
                      </a:pPr>
                      <a:r>
                        <a:t>Mặt tròn xoay (trục, ống, côn, ren)</a:t>
                      </a:r>
                    </a:p>
                  </a:txBody>
                  <a:tcPr>
                    <a:solidFill>
                      <a:srgbClr val="0A0D12"/>
                    </a:solidFill>
                  </a:tcPr>
                </a:tc>
                <a:tc>
                  <a:txBody>
                    <a:bodyPr/>
                    <a:lstStyle/>
                    <a:p>
                      <a:pPr>
                        <a:defRPr sz="1200">
                          <a:solidFill>
                            <a:srgbClr val="94A3B8"/>
                          </a:solidFill>
                          <a:latin typeface="Be Vietnam Pro"/>
                        </a:defRPr>
                      </a:pPr>
                      <a:r>
                        <a:t>Vết vân tiện tròn xoay quanh tâm</a:t>
                      </a:r>
                    </a:p>
                  </a:txBody>
                  <a:tcPr>
                    <a:solidFill>
                      <a:srgbClr val="0A0D12"/>
                    </a:solidFill>
                  </a:tcPr>
                </a:tc>
              </a:tr>
              <a:tr h="685800">
                <a:tc>
                  <a:txBody>
                    <a:bodyPr/>
                    <a:lstStyle/>
                    <a:p>
                      <a:pPr>
                        <a:defRPr sz="1200" b="1">
                          <a:solidFill>
                            <a:srgbClr val="F0F4F8"/>
                          </a:solidFill>
                          <a:latin typeface="Be Vietnam Pro"/>
                        </a:defRPr>
                      </a:pPr>
                      <a:r>
                        <a:t>5. PHAY</a:t>
                      </a:r>
                    </a:p>
                  </a:txBody>
                  <a:tcPr>
                    <a:solidFill>
                      <a:srgbClr val="0A0D12"/>
                    </a:solidFill>
                  </a:tcPr>
                </a:tc>
                <a:tc>
                  <a:txBody>
                    <a:bodyPr/>
                    <a:lstStyle/>
                    <a:p>
                      <a:pPr>
                        <a:defRPr sz="1200">
                          <a:solidFill>
                            <a:srgbClr val="94A3B8"/>
                          </a:solidFill>
                          <a:latin typeface="Be Vietnam Pro"/>
                        </a:defRPr>
                      </a:pPr>
                      <a:r>
                        <a:t>DAO QUAY TRÒN, Phôi tịnh tiến</a:t>
                      </a:r>
                    </a:p>
                  </a:txBody>
                  <a:tcPr>
                    <a:solidFill>
                      <a:srgbClr val="0A0D12"/>
                    </a:solidFill>
                  </a:tcPr>
                </a:tc>
                <a:tc>
                  <a:txBody>
                    <a:bodyPr/>
                    <a:lstStyle/>
                    <a:p>
                      <a:pPr>
                        <a:defRPr sz="1200">
                          <a:solidFill>
                            <a:srgbClr val="94A3B8"/>
                          </a:solidFill>
                          <a:latin typeface="Be Vietnam Pro"/>
                        </a:defRPr>
                      </a:pPr>
                      <a:r>
                        <a:t>Mặt phẳng, rãnh chữ T, rãnh then</a:t>
                      </a:r>
                    </a:p>
                  </a:txBody>
                  <a:tcPr>
                    <a:solidFill>
                      <a:srgbClr val="0A0D12"/>
                    </a:solidFill>
                  </a:tcPr>
                </a:tc>
                <a:tc>
                  <a:txBody>
                    <a:bodyPr/>
                    <a:lstStyle/>
                    <a:p>
                      <a:pPr>
                        <a:defRPr sz="1200">
                          <a:solidFill>
                            <a:srgbClr val="94A3B8"/>
                          </a:solidFill>
                          <a:latin typeface="Be Vietnam Pro"/>
                        </a:defRPr>
                      </a:pPr>
                      <a:r>
                        <a:t>Vết vân dao phay dạng vòm sóng</a:t>
                      </a:r>
                    </a:p>
                  </a:txBody>
                  <a:tcPr>
                    <a:solidFill>
                      <a:srgbClr val="0A0D12"/>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00E5FF"/>
                </a:solidFill>
                <a:latin typeface="Be Vietnam Pro"/>
              </a:defRPr>
            </a:pPr>
            <a:r>
              <a:t>● ĐẤU TRƯỜNG TƯƠNG TÁC · GAME MODULE 1</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Đấu trường: Rinh điểm liền tay 🎲 Dice Random Picker</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25 câu hỏi (20 SGK + 5 Chuyên gia đánh dấu đỏ) cùng Xúc Xắc 3D 6 chế độ tương tác.</a:t>
            </a:r>
          </a:p>
        </p:txBody>
      </p:sp>
      <p:sp>
        <p:nvSpPr>
          <p:cNvPr id="6" name="Rounded Rectangle 5"/>
          <p:cNvSpPr/>
          <p:nvPr/>
        </p:nvSpPr>
        <p:spPr>
          <a:xfrm>
            <a:off x="731520" y="2377440"/>
            <a:ext cx="6858000" cy="3840480"/>
          </a:xfrm>
          <a:prstGeom prst="roundRect">
            <a:avLst/>
          </a:prstGeom>
          <a:solidFill>
            <a:srgbClr val="12182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HỆ THỐNG 25 CÂU HỎI &amp; XÚC XẮC 3D (DICE CODE 1-6)</a:t>
            </a:r>
          </a:p>
          <a:p>
            <a:pPr>
              <a:spcAft>
                <a:spcPts val="800"/>
              </a:spcAft>
              <a:defRPr sz="1200">
                <a:solidFill>
                  <a:srgbClr val="F59E0B"/>
                </a:solidFill>
                <a:latin typeface="Be Vietnam Pro"/>
              </a:defRPr>
            </a:pPr>
            <a:r>
              <a:t>20 câu SGK nền tảng + 5 câu Tư duy / Thực nghiệm cao cấp</a:t>
            </a:r>
          </a:p>
          <a:p>
            <a:pPr>
              <a:spcAft>
                <a:spcPts val="400"/>
              </a:spcAft>
              <a:defRPr sz="1300">
                <a:solidFill>
                  <a:srgbClr val="94A3B8"/>
                </a:solidFill>
                <a:latin typeface="Be Vietnam Pro"/>
              </a:defRPr>
            </a:pPr>
            <a:r>
              <a:t>• 20 câu hỏi SGK: Phân loại từ Dễ, Trung bình đến Khá bao quát toàn diện 5 phương pháp.</a:t>
            </a:r>
          </a:p>
          <a:p>
            <a:pPr>
              <a:spcAft>
                <a:spcPts val="400"/>
              </a:spcAft>
              <a:defRPr sz="1300">
                <a:solidFill>
                  <a:srgbClr val="94A3B8"/>
                </a:solidFill>
                <a:latin typeface="Be Vietnam Pro"/>
              </a:defRPr>
            </a:pPr>
            <a:r>
              <a:t>• 5 câu Chuyên gia (Đỏ): Tình huống thực nghiệm, tư duy phân tích biến dạng, tính toán chế độ cắt.</a:t>
            </a:r>
          </a:p>
          <a:p>
            <a:pPr>
              <a:spcAft>
                <a:spcPts val="400"/>
              </a:spcAft>
              <a:defRPr sz="1300">
                <a:solidFill>
                  <a:srgbClr val="94A3B8"/>
                </a:solidFill>
                <a:latin typeface="Be Vietnam Pro"/>
              </a:defRPr>
            </a:pPr>
            <a:r>
              <a:t>• Dice Code 1 — Random Student: Quay số ngẫu nhiên 1–47 (không trùng lặp, hiệu ứng Shuffle 3.5s).</a:t>
            </a:r>
          </a:p>
          <a:p>
            <a:pPr>
              <a:spcAft>
                <a:spcPts val="400"/>
              </a:spcAft>
              <a:defRPr sz="1300">
                <a:solidFill>
                  <a:srgbClr val="94A3B8"/>
                </a:solidFill>
                <a:latin typeface="Be Vietnam Pro"/>
              </a:defRPr>
            </a:pPr>
            <a:r>
              <a:t>• Dice Code 2 — F1 Reaction Challenge: Dàn 5 đèn đỏ F1 tắt chuyển xanh, thi phản xạ nhanh.</a:t>
            </a:r>
          </a:p>
          <a:p>
            <a:pPr>
              <a:spcAft>
                <a:spcPts val="400"/>
              </a:spcAft>
              <a:defRPr sz="1300">
                <a:solidFill>
                  <a:srgbClr val="94A3B8"/>
                </a:solidFill>
                <a:latin typeface="Be Vietnam Pro"/>
              </a:defRPr>
            </a:pPr>
            <a:r>
              <a:t>• Dice Code 3 — DUAL DUEL: Đối đầu 1 vs 1 giữa 2 học sinh trả lời nhanh trong 15s.</a:t>
            </a:r>
          </a:p>
          <a:p>
            <a:pPr>
              <a:spcAft>
                <a:spcPts val="400"/>
              </a:spcAft>
              <a:defRPr sz="1300">
                <a:solidFill>
                  <a:srgbClr val="94A3B8"/>
                </a:solidFill>
                <a:latin typeface="Be Vietnam Pro"/>
              </a:defRPr>
            </a:pPr>
            <a:r>
              <a:t>• Dice Code 4 — LUCKY ESCAPE: Quyền tự trả lời nhận x2 điểm hoặc chuyển quyền cho bạn.</a:t>
            </a:r>
          </a:p>
          <a:p>
            <a:pPr>
              <a:spcAft>
                <a:spcPts val="400"/>
              </a:spcAft>
              <a:defRPr sz="1300">
                <a:solidFill>
                  <a:srgbClr val="94A3B8"/>
                </a:solidFill>
                <a:latin typeface="Be Vietnam Pro"/>
              </a:defRPr>
            </a:pPr>
            <a:r>
              <a:t>• Dice Code 5 — CLASS RUSH: Thử thách toàn lớp trong 20s, ai giơ tay trước ghi điểm cho tổ.</a:t>
            </a:r>
          </a:p>
          <a:p>
            <a:pPr>
              <a:spcAft>
                <a:spcPts val="400"/>
              </a:spcAft>
              <a:defRPr sz="1300">
                <a:solidFill>
                  <a:srgbClr val="94A3B8"/>
                </a:solidFill>
                <a:latin typeface="Be Vietnam Pro"/>
              </a:defRPr>
            </a:pPr>
            <a:r>
              <a:t>• Dice Code 6 — CHAOS MODE: Mini-game bất ngờ (5s chớp nhoáng, trợ giúp đồng đội, x2 điểm).</a:t>
            </a:r>
          </a:p>
        </p:txBody>
      </p:sp>
      <p:sp>
        <p:nvSpPr>
          <p:cNvPr id="7" name="Rounded Rectangle 6"/>
          <p:cNvSpPr/>
          <p:nvPr/>
        </p:nvSpPr>
        <p:spPr>
          <a:xfrm>
            <a:off x="7955279" y="2377440"/>
            <a:ext cx="3474720" cy="3840480"/>
          </a:xfrm>
          <a:prstGeom prst="roundRect">
            <a:avLst/>
          </a:prstGeom>
          <a:solidFill>
            <a:srgbClr val="121820"/>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CÂU HỎI CHUYÊN GIA ĐIỂN HÌNH</a:t>
            </a:r>
          </a:p>
          <a:p>
            <a:pPr>
              <a:spcAft>
                <a:spcPts val="800"/>
              </a:spcAft>
              <a:defRPr sz="1200">
                <a:solidFill>
                  <a:srgbClr val="F59E0B"/>
                </a:solidFill>
                <a:latin typeface="Be Vietnam Pro"/>
              </a:defRPr>
            </a:pPr>
            <a:r>
              <a:t>Thực nghiệm &amp; Tư duy sâu</a:t>
            </a:r>
          </a:p>
          <a:p>
            <a:pPr>
              <a:spcAft>
                <a:spcPts val="400"/>
              </a:spcAft>
              <a:defRPr sz="1300">
                <a:solidFill>
                  <a:srgbClr val="94A3B8"/>
                </a:solidFill>
                <a:latin typeface="Be Vietnam Pro"/>
              </a:defRPr>
            </a:pPr>
            <a:r>
              <a:t>• 🔥 Đúc vỏ động cơ mỏng hay bị rỗ khí/ngậm xỉ do đâu? --&gt; Thoát khí khuôn &amp; nhiệt độ rót.</a:t>
            </a:r>
          </a:p>
          <a:p>
            <a:pPr>
              <a:spcAft>
                <a:spcPts val="400"/>
              </a:spcAft>
              <a:defRPr sz="1300">
                <a:solidFill>
                  <a:srgbClr val="94A3B8"/>
                </a:solidFill>
                <a:latin typeface="Be Vietnam Pro"/>
              </a:defRPr>
            </a:pPr>
            <a:r>
              <a:t>• 🔥 Hàn kết cấu dầm cầu bị cong vênh nghiêm trọng? --&gt; Ứng suất nhiệt co ngót không đều.</a:t>
            </a:r>
          </a:p>
          <a:p>
            <a:pPr>
              <a:spcAft>
                <a:spcPts val="400"/>
              </a:spcAft>
              <a:defRPr sz="1300">
                <a:solidFill>
                  <a:srgbClr val="94A3B8"/>
                </a:solidFill>
                <a:latin typeface="Be Vietnam Pro"/>
              </a:defRPr>
            </a:pPr>
            <a:r>
              <a:t>• 🔥 Tiện trục thon dài bị rung gằn và côn đầu? --&gt; Thiếu ụ động &amp; luynet chống uốn.</a:t>
            </a:r>
          </a:p>
          <a:p>
            <a:pPr>
              <a:spcAft>
                <a:spcPts val="400"/>
              </a:spcAft>
              <a:defRPr sz="1300">
                <a:solidFill>
                  <a:srgbClr val="94A3B8"/>
                </a:solidFill>
                <a:latin typeface="Be Vietnam Pro"/>
              </a:defRPr>
            </a:pPr>
            <a:r>
              <a:t>• 🔥 Phay hỏng góc dao vì sao? --&gt; Nhiệt tích tụ do thiếu dung dịch tưới nguội.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100" b="1">
                <a:solidFill>
                  <a:srgbClr val="00E5FF"/>
                </a:solidFill>
                <a:latin typeface="Be Vietnam Pro"/>
              </a:defRPr>
            </a:pPr>
            <a:r>
              <a:t>● GESTURE TRACKING · HAND AR MODULE 4</a:t>
            </a:r>
          </a:p>
        </p:txBody>
      </p:sp>
      <p:sp>
        <p:nvSpPr>
          <p:cNvPr id="4" name="TextBox 3"/>
          <p:cNvSpPr txBox="1"/>
          <p:nvPr/>
        </p:nvSpPr>
        <p:spPr>
          <a:xfrm>
            <a:off x="731520" y="868680"/>
            <a:ext cx="10698480" cy="822960"/>
          </a:xfrm>
          <a:prstGeom prst="rect">
            <a:avLst/>
          </a:prstGeom>
          <a:noFill/>
        </p:spPr>
        <p:txBody>
          <a:bodyPr wrap="square">
            <a:spAutoFit/>
          </a:bodyPr>
          <a:lstStyle/>
          <a:p>
            <a:pPr>
              <a:defRPr sz="2800" b="1">
                <a:solidFill>
                  <a:srgbClr val="F0F4F8"/>
                </a:solidFill>
                <a:latin typeface="Be Vietnam Pro"/>
              </a:defRPr>
            </a:pPr>
            <a:r>
              <a:t>Hand AR: Pinch &amp; Place dụng cụ gia công</a:t>
            </a:r>
          </a:p>
        </p:txBody>
      </p:sp>
      <p:sp>
        <p:nvSpPr>
          <p:cNvPr id="5" name="TextBox 4"/>
          <p:cNvSpPr txBox="1"/>
          <p:nvPr/>
        </p:nvSpPr>
        <p:spPr>
          <a:xfrm>
            <a:off x="731520" y="1645920"/>
            <a:ext cx="10698480" cy="548640"/>
          </a:xfrm>
          <a:prstGeom prst="rect">
            <a:avLst/>
          </a:prstGeom>
          <a:noFill/>
        </p:spPr>
        <p:txBody>
          <a:bodyPr wrap="square">
            <a:spAutoFit/>
          </a:bodyPr>
          <a:lstStyle/>
          <a:p>
            <a:pPr>
              <a:defRPr sz="1400">
                <a:solidFill>
                  <a:srgbClr val="94A3B8"/>
                </a:solidFill>
                <a:latin typeface="Be Vietnam Pro"/>
              </a:defRPr>
            </a:pPr>
            <a:r>
              <a:t>Sử dụng bàn tay thật nhận diện qua webcam để gắp dụng cụ ảo thả vào đúng máy gia công.</a:t>
            </a:r>
          </a:p>
        </p:txBody>
      </p:sp>
      <p:sp>
        <p:nvSpPr>
          <p:cNvPr id="6" name="Rounded Rectangle 5"/>
          <p:cNvSpPr/>
          <p:nvPr/>
        </p:nvSpPr>
        <p:spPr>
          <a:xfrm>
            <a:off x="731520" y="2377440"/>
            <a:ext cx="5120640" cy="3840480"/>
          </a:xfrm>
          <a:prstGeom prst="roundRect">
            <a:avLst/>
          </a:prstGeom>
          <a:solidFill>
            <a:srgbClr val="12182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CƠ CHẾ THEO DÕI BÀN TAY (HAND TRACKING)</a:t>
            </a:r>
          </a:p>
          <a:p>
            <a:pPr>
              <a:spcAft>
                <a:spcPts val="800"/>
              </a:spcAft>
              <a:defRPr sz="1200">
                <a:solidFill>
                  <a:srgbClr val="F59E0B"/>
                </a:solidFill>
                <a:latin typeface="Be Vietnam Pro"/>
              </a:defRPr>
            </a:pPr>
            <a:r>
              <a:t>Tích hợp MediaPipe Hands 21 điểm mốc</a:t>
            </a:r>
          </a:p>
          <a:p>
            <a:pPr>
              <a:spcAft>
                <a:spcPts val="400"/>
              </a:spcAft>
              <a:defRPr sz="1300">
                <a:solidFill>
                  <a:srgbClr val="94A3B8"/>
                </a:solidFill>
                <a:latin typeface="Be Vietnam Pro"/>
              </a:defRPr>
            </a:pPr>
            <a:r>
              <a:t>• Camera nhận diện 21 điểm khớp trên bàn tay theo thời gian thực.</a:t>
            </a:r>
          </a:p>
          <a:p>
            <a:pPr>
              <a:spcAft>
                <a:spcPts val="400"/>
              </a:spcAft>
              <a:defRPr sz="1300">
                <a:solidFill>
                  <a:srgbClr val="94A3B8"/>
                </a:solidFill>
                <a:latin typeface="Be Vietnam Pro"/>
              </a:defRPr>
            </a:pPr>
            <a:r>
              <a:t>• Cử chỉ chụm ngón (PINCH): Khoảng cách giữa đầu ngón cái và ngón trỏ &lt; ngưỡng để GẮP thẻ dụng cụ.</a:t>
            </a:r>
          </a:p>
          <a:p>
            <a:pPr>
              <a:spcAft>
                <a:spcPts val="400"/>
              </a:spcAft>
              <a:defRPr sz="1300">
                <a:solidFill>
                  <a:srgbClr val="94A3B8"/>
                </a:solidFill>
                <a:latin typeface="Be Vietnam Pro"/>
              </a:defRPr>
            </a:pPr>
            <a:r>
              <a:t>• Cử chỉ mở tay: Thả thẻ vào trạm máy.</a:t>
            </a:r>
          </a:p>
          <a:p>
            <a:pPr>
              <a:spcAft>
                <a:spcPts val="400"/>
              </a:spcAft>
              <a:defRPr sz="1300">
                <a:solidFill>
                  <a:srgbClr val="94A3B8"/>
                </a:solidFill>
                <a:latin typeface="Be Vietnam Pro"/>
              </a:defRPr>
            </a:pPr>
            <a:r>
              <a:t>• Thẻ dụng cụ: Mũi khoan ruột gà, Dao tiện hợp kim, Dao phay ngón, Gáo rót kim loại, Mỏ hàn.</a:t>
            </a:r>
          </a:p>
          <a:p>
            <a:pPr>
              <a:spcAft>
                <a:spcPts val="400"/>
              </a:spcAft>
              <a:defRPr sz="1300">
                <a:solidFill>
                  <a:srgbClr val="94A3B8"/>
                </a:solidFill>
                <a:latin typeface="Be Vietnam Pro"/>
              </a:defRPr>
            </a:pPr>
            <a:r>
              <a:t>• QUYỀN RIÊNG TƯ: Toàn bộ xử lý hình ảnh thực hiện cục bộ trong trình duyệt, không gửi video ra ngoài.</a:t>
            </a:r>
          </a:p>
        </p:txBody>
      </p:sp>
      <p:sp>
        <p:nvSpPr>
          <p:cNvPr id="7" name="Rounded Rectangle 6"/>
          <p:cNvSpPr/>
          <p:nvPr/>
        </p:nvSpPr>
        <p:spPr>
          <a:xfrm>
            <a:off x="6217920" y="2377440"/>
            <a:ext cx="5212080" cy="3840480"/>
          </a:xfrm>
          <a:prstGeom prst="roundRect">
            <a:avLst/>
          </a:prstGeom>
          <a:solidFill>
            <a:srgbClr val="12182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600" b="1">
                <a:solidFill>
                  <a:srgbClr val="F0F4F8"/>
                </a:solidFill>
                <a:latin typeface="Be Vietnam Pro"/>
              </a:defRPr>
            </a:pPr>
            <a:r>
              <a:t>FALLBACK CHUỘT &amp; CẢM ỨNG ĐẦY ĐỦ</a:t>
            </a:r>
          </a:p>
          <a:p>
            <a:pPr>
              <a:spcAft>
                <a:spcPts val="800"/>
              </a:spcAft>
              <a:defRPr sz="1200">
                <a:solidFill>
                  <a:srgbClr val="F59E0B"/>
                </a:solidFill>
                <a:latin typeface="Be Vietnam Pro"/>
              </a:defRPr>
            </a:pPr>
            <a:r>
              <a:t>Không bắt buộc camera</a:t>
            </a:r>
          </a:p>
          <a:p>
            <a:pPr>
              <a:spcAft>
                <a:spcPts val="400"/>
              </a:spcAft>
              <a:defRPr sz="1300">
                <a:solidFill>
                  <a:srgbClr val="94A3B8"/>
                </a:solidFill>
                <a:latin typeface="Be Vietnam Pro"/>
              </a:defRPr>
            </a:pPr>
            <a:r>
              <a:t>• Nếu máy tính không có webcam hoặc không ở chế độ HTTPS/localhost, hệ thống tự động duy trì 100% chế độ chuột kéo-thả.</a:t>
            </a:r>
          </a:p>
          <a:p>
            <a:pPr>
              <a:spcAft>
                <a:spcPts val="400"/>
              </a:spcAft>
              <a:defRPr sz="1300">
                <a:solidFill>
                  <a:srgbClr val="94A3B8"/>
                </a:solidFill>
                <a:latin typeface="Be Vietnam Pro"/>
              </a:defRPr>
            </a:pPr>
            <a:r>
              <a:t>• Học sinh có thể dùng chuột hoặc cảm ứng trên màn hình laptop/máy tính bảng.</a:t>
            </a:r>
          </a:p>
          <a:p>
            <a:pPr>
              <a:spcAft>
                <a:spcPts val="400"/>
              </a:spcAft>
              <a:defRPr sz="1300">
                <a:solidFill>
                  <a:srgbClr val="94A3B8"/>
                </a:solidFill>
                <a:latin typeface="Be Vietnam Pro"/>
              </a:defRPr>
            </a:pPr>
            <a:r>
              <a:t>• Trải nghiệm hoàn toàn mượt mà, không bao giờ bị lỗi khóa bài học khi thiếu thiết bị.</a:t>
            </a:r>
          </a:p>
          <a:p>
            <a:pPr>
              <a:spcAft>
                <a:spcPts val="400"/>
              </a:spcAft>
              <a:defRPr sz="1300">
                <a:solidFill>
                  <a:srgbClr val="94A3B8"/>
                </a:solidFill>
                <a:latin typeface="Be Vietnam Pro"/>
              </a:defRPr>
            </a:pPr>
            <a:r>
              <a:t>• --&gt; Mở thử nghiệm ngay tại Slide 12 trên file HTML.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2926080"/>
          </a:xfrm>
          <a:prstGeom prst="rect">
            <a:avLst/>
          </a:prstGeom>
          <a:noFill/>
        </p:spPr>
        <p:txBody>
          <a:bodyPr wrap="square">
            <a:spAutoFit/>
          </a:bodyPr>
          <a:lstStyle/>
          <a:p>
            <a:pPr algn="ctr">
              <a:defRPr sz="5400" b="1">
                <a:solidFill>
                  <a:srgbClr val="F0F4F8"/>
                </a:solidFill>
                <a:latin typeface="Be Vietnam Pro"/>
              </a:defRPr>
            </a:pPr>
            <a:r>
              <a:t>CẢM ƠN MỌI NGƯỜI VÀ CÁC BẠN</a:t>
            </a:r>
            <a:br/>
            <a:r>
              <a:t>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